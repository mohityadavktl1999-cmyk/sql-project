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0" r:id="rId6"/>
    <p:sldId id="261" r:id="rId7"/>
    <p:sldId id="263" r:id="rId8"/>
    <p:sldId id="264" r:id="rId9"/>
    <p:sldId id="262"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username</c:v>
                </c:pt>
              </c:strCache>
            </c:strRef>
          </c:tx>
          <c:spPr>
            <a:solidFill>
              <a:schemeClr val="accent1">
                <a:alpha val="70000"/>
              </a:schemeClr>
            </a:solidFill>
            <a:ln>
              <a:noFill/>
            </a:ln>
            <a:effectLst/>
          </c:spPr>
          <c:invertIfNegative val="0"/>
          <c:cat>
            <c:numRef>
              <c:f>Sheet1!$A$2:$A$101</c:f>
              <c:numCache>
                <c:formatCode>General</c:formatCod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numCache>
            </c:numRef>
          </c:cat>
          <c:val>
            <c:numRef>
              <c:f>Sheet1!$B$2:$B$101</c:f>
              <c:numCache>
                <c:formatCode>General</c:formatCode>
                <c:ptCount val="10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numCache>
            </c:numRef>
          </c:val>
          <c:extLst>
            <c:ext xmlns:c16="http://schemas.microsoft.com/office/drawing/2014/chart" uri="{C3380CC4-5D6E-409C-BE32-E72D297353CC}">
              <c16:uniqueId val="{00000000-4C27-4E80-A326-3CE8C50B927B}"/>
            </c:ext>
          </c:extLst>
        </c:ser>
        <c:ser>
          <c:idx val="1"/>
          <c:order val="1"/>
          <c:tx>
            <c:strRef>
              <c:f>Sheet1!$C$1</c:f>
              <c:strCache>
                <c:ptCount val="1"/>
                <c:pt idx="0">
                  <c:v>TotalLikes</c:v>
                </c:pt>
              </c:strCache>
            </c:strRef>
          </c:tx>
          <c:spPr>
            <a:solidFill>
              <a:schemeClr val="accent2">
                <a:lumMod val="75000"/>
              </a:schemeClr>
            </a:solidFill>
            <a:ln>
              <a:noFill/>
            </a:ln>
            <a:effectLst/>
          </c:spPr>
          <c:invertIfNegative val="0"/>
          <c:cat>
            <c:numRef>
              <c:f>Sheet1!$A$2:$A$101</c:f>
              <c:numCache>
                <c:formatCode>General</c:formatCod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numCache>
            </c:numRef>
          </c:cat>
          <c:val>
            <c:numRef>
              <c:f>Sheet1!$C$2:$C$101</c:f>
              <c:numCache>
                <c:formatCode>General</c:formatCode>
                <c:ptCount val="100"/>
                <c:pt idx="0">
                  <c:v>5</c:v>
                </c:pt>
                <c:pt idx="1">
                  <c:v>4</c:v>
                </c:pt>
                <c:pt idx="2">
                  <c:v>4</c:v>
                </c:pt>
                <c:pt idx="3">
                  <c:v>3</c:v>
                </c:pt>
                <c:pt idx="4">
                  <c:v>0</c:v>
                </c:pt>
                <c:pt idx="5">
                  <c:v>5</c:v>
                </c:pt>
                <c:pt idx="6">
                  <c:v>0</c:v>
                </c:pt>
                <c:pt idx="7">
                  <c:v>4</c:v>
                </c:pt>
                <c:pt idx="8">
                  <c:v>4</c:v>
                </c:pt>
                <c:pt idx="9">
                  <c:v>3</c:v>
                </c:pt>
                <c:pt idx="10">
                  <c:v>5</c:v>
                </c:pt>
                <c:pt idx="11">
                  <c:v>4</c:v>
                </c:pt>
                <c:pt idx="12">
                  <c:v>5</c:v>
                </c:pt>
                <c:pt idx="13">
                  <c:v>0</c:v>
                </c:pt>
                <c:pt idx="14">
                  <c:v>4</c:v>
                </c:pt>
                <c:pt idx="15">
                  <c:v>4</c:v>
                </c:pt>
                <c:pt idx="16">
                  <c:v>3</c:v>
                </c:pt>
                <c:pt idx="17">
                  <c:v>1</c:v>
                </c:pt>
                <c:pt idx="18">
                  <c:v>2</c:v>
                </c:pt>
                <c:pt idx="19">
                  <c:v>1</c:v>
                </c:pt>
                <c:pt idx="20">
                  <c:v>0</c:v>
                </c:pt>
                <c:pt idx="21">
                  <c:v>1</c:v>
                </c:pt>
                <c:pt idx="22">
                  <c:v>12</c:v>
                </c:pt>
                <c:pt idx="23">
                  <c:v>0</c:v>
                </c:pt>
                <c:pt idx="24">
                  <c:v>0</c:v>
                </c:pt>
                <c:pt idx="25">
                  <c:v>5</c:v>
                </c:pt>
                <c:pt idx="26">
                  <c:v>1</c:v>
                </c:pt>
                <c:pt idx="27">
                  <c:v>4</c:v>
                </c:pt>
                <c:pt idx="28">
                  <c:v>8</c:v>
                </c:pt>
                <c:pt idx="29">
                  <c:v>2</c:v>
                </c:pt>
                <c:pt idx="30">
                  <c:v>1</c:v>
                </c:pt>
                <c:pt idx="31">
                  <c:v>4</c:v>
                </c:pt>
                <c:pt idx="32">
                  <c:v>5</c:v>
                </c:pt>
                <c:pt idx="33">
                  <c:v>0</c:v>
                </c:pt>
                <c:pt idx="34">
                  <c:v>2</c:v>
                </c:pt>
                <c:pt idx="35">
                  <c:v>0</c:v>
                </c:pt>
                <c:pt idx="36">
                  <c:v>1</c:v>
                </c:pt>
                <c:pt idx="37">
                  <c:v>2</c:v>
                </c:pt>
                <c:pt idx="38">
                  <c:v>1</c:v>
                </c:pt>
                <c:pt idx="39">
                  <c:v>1</c:v>
                </c:pt>
                <c:pt idx="40">
                  <c:v>0</c:v>
                </c:pt>
                <c:pt idx="41">
                  <c:v>3</c:v>
                </c:pt>
                <c:pt idx="42">
                  <c:v>5</c:v>
                </c:pt>
                <c:pt idx="43">
                  <c:v>4</c:v>
                </c:pt>
                <c:pt idx="44">
                  <c:v>0</c:v>
                </c:pt>
                <c:pt idx="45">
                  <c:v>4</c:v>
                </c:pt>
                <c:pt idx="46">
                  <c:v>5</c:v>
                </c:pt>
                <c:pt idx="47">
                  <c:v>1</c:v>
                </c:pt>
                <c:pt idx="48">
                  <c:v>0</c:v>
                </c:pt>
                <c:pt idx="49">
                  <c:v>3</c:v>
                </c:pt>
                <c:pt idx="50">
                  <c:v>5</c:v>
                </c:pt>
                <c:pt idx="51">
                  <c:v>5</c:v>
                </c:pt>
                <c:pt idx="52">
                  <c:v>0</c:v>
                </c:pt>
                <c:pt idx="53">
                  <c:v>0</c:v>
                </c:pt>
                <c:pt idx="54">
                  <c:v>1</c:v>
                </c:pt>
                <c:pt idx="55">
                  <c:v>1</c:v>
                </c:pt>
                <c:pt idx="56">
                  <c:v>0</c:v>
                </c:pt>
                <c:pt idx="57">
                  <c:v>8</c:v>
                </c:pt>
                <c:pt idx="58">
                  <c:v>10</c:v>
                </c:pt>
                <c:pt idx="59">
                  <c:v>2</c:v>
                </c:pt>
                <c:pt idx="60">
                  <c:v>1</c:v>
                </c:pt>
                <c:pt idx="61">
                  <c:v>2</c:v>
                </c:pt>
                <c:pt idx="62">
                  <c:v>4</c:v>
                </c:pt>
                <c:pt idx="63">
                  <c:v>5</c:v>
                </c:pt>
                <c:pt idx="64">
                  <c:v>5</c:v>
                </c:pt>
                <c:pt idx="65">
                  <c:v>0</c:v>
                </c:pt>
                <c:pt idx="66">
                  <c:v>3</c:v>
                </c:pt>
                <c:pt idx="67">
                  <c:v>0</c:v>
                </c:pt>
                <c:pt idx="68">
                  <c:v>1</c:v>
                </c:pt>
                <c:pt idx="69">
                  <c:v>1</c:v>
                </c:pt>
                <c:pt idx="70">
                  <c:v>0</c:v>
                </c:pt>
                <c:pt idx="71">
                  <c:v>5</c:v>
                </c:pt>
                <c:pt idx="72">
                  <c:v>1</c:v>
                </c:pt>
                <c:pt idx="73">
                  <c:v>0</c:v>
                </c:pt>
                <c:pt idx="74">
                  <c:v>0</c:v>
                </c:pt>
                <c:pt idx="75">
                  <c:v>0</c:v>
                </c:pt>
                <c:pt idx="76">
                  <c:v>6</c:v>
                </c:pt>
                <c:pt idx="77">
                  <c:v>5</c:v>
                </c:pt>
                <c:pt idx="78">
                  <c:v>1</c:v>
                </c:pt>
                <c:pt idx="79">
                  <c:v>0</c:v>
                </c:pt>
                <c:pt idx="80">
                  <c:v>0</c:v>
                </c:pt>
                <c:pt idx="81">
                  <c:v>2</c:v>
                </c:pt>
                <c:pt idx="82">
                  <c:v>0</c:v>
                </c:pt>
                <c:pt idx="83">
                  <c:v>2</c:v>
                </c:pt>
                <c:pt idx="84">
                  <c:v>2</c:v>
                </c:pt>
                <c:pt idx="85">
                  <c:v>9</c:v>
                </c:pt>
                <c:pt idx="86">
                  <c:v>4</c:v>
                </c:pt>
                <c:pt idx="87">
                  <c:v>11</c:v>
                </c:pt>
                <c:pt idx="88">
                  <c:v>0</c:v>
                </c:pt>
                <c:pt idx="89">
                  <c:v>0</c:v>
                </c:pt>
                <c:pt idx="90">
                  <c:v>0</c:v>
                </c:pt>
                <c:pt idx="91">
                  <c:v>3</c:v>
                </c:pt>
                <c:pt idx="92">
                  <c:v>2</c:v>
                </c:pt>
                <c:pt idx="93">
                  <c:v>1</c:v>
                </c:pt>
                <c:pt idx="94">
                  <c:v>2</c:v>
                </c:pt>
                <c:pt idx="95">
                  <c:v>3</c:v>
                </c:pt>
                <c:pt idx="96">
                  <c:v>2</c:v>
                </c:pt>
                <c:pt idx="97">
                  <c:v>1</c:v>
                </c:pt>
                <c:pt idx="98">
                  <c:v>3</c:v>
                </c:pt>
                <c:pt idx="99">
                  <c:v>2</c:v>
                </c:pt>
              </c:numCache>
            </c:numRef>
          </c:val>
          <c:extLst>
            <c:ext xmlns:c16="http://schemas.microsoft.com/office/drawing/2014/chart" uri="{C3380CC4-5D6E-409C-BE32-E72D297353CC}">
              <c16:uniqueId val="{00000001-4C27-4E80-A326-3CE8C50B927B}"/>
            </c:ext>
          </c:extLst>
        </c:ser>
        <c:ser>
          <c:idx val="2"/>
          <c:order val="2"/>
          <c:tx>
            <c:strRef>
              <c:f>Sheet1!$D$1</c:f>
              <c:strCache>
                <c:ptCount val="1"/>
                <c:pt idx="0">
                  <c:v>TotalComments</c:v>
                </c:pt>
              </c:strCache>
            </c:strRef>
          </c:tx>
          <c:spPr>
            <a:solidFill>
              <a:srgbClr val="0070C0"/>
            </a:solidFill>
            <a:ln>
              <a:noFill/>
            </a:ln>
            <a:effectLst/>
          </c:spPr>
          <c:invertIfNegative val="0"/>
          <c:cat>
            <c:numRef>
              <c:f>Sheet1!$A$2:$A$101</c:f>
              <c:numCache>
                <c:formatCode>General</c:formatCod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numCache>
            </c:numRef>
          </c:cat>
          <c:val>
            <c:numRef>
              <c:f>Sheet1!$D$2:$D$101</c:f>
              <c:numCache>
                <c:formatCode>General</c:formatCode>
                <c:ptCount val="100"/>
                <c:pt idx="0">
                  <c:v>142</c:v>
                </c:pt>
                <c:pt idx="1">
                  <c:v>119</c:v>
                </c:pt>
                <c:pt idx="2">
                  <c:v>117</c:v>
                </c:pt>
                <c:pt idx="3">
                  <c:v>77</c:v>
                </c:pt>
                <c:pt idx="4">
                  <c:v>0</c:v>
                </c:pt>
                <c:pt idx="5">
                  <c:v>139</c:v>
                </c:pt>
                <c:pt idx="6">
                  <c:v>0</c:v>
                </c:pt>
                <c:pt idx="7">
                  <c:v>119</c:v>
                </c:pt>
                <c:pt idx="8">
                  <c:v>126</c:v>
                </c:pt>
                <c:pt idx="9">
                  <c:v>90</c:v>
                </c:pt>
                <c:pt idx="10">
                  <c:v>147</c:v>
                </c:pt>
                <c:pt idx="11">
                  <c:v>117</c:v>
                </c:pt>
                <c:pt idx="12">
                  <c:v>148</c:v>
                </c:pt>
                <c:pt idx="13">
                  <c:v>0</c:v>
                </c:pt>
                <c:pt idx="14">
                  <c:v>115</c:v>
                </c:pt>
                <c:pt idx="15">
                  <c:v>126</c:v>
                </c:pt>
                <c:pt idx="16">
                  <c:v>83</c:v>
                </c:pt>
                <c:pt idx="17">
                  <c:v>31</c:v>
                </c:pt>
                <c:pt idx="18">
                  <c:v>56</c:v>
                </c:pt>
                <c:pt idx="19">
                  <c:v>24</c:v>
                </c:pt>
                <c:pt idx="20">
                  <c:v>0</c:v>
                </c:pt>
                <c:pt idx="21">
                  <c:v>31</c:v>
                </c:pt>
                <c:pt idx="22">
                  <c:v>329</c:v>
                </c:pt>
                <c:pt idx="23">
                  <c:v>0</c:v>
                </c:pt>
                <c:pt idx="24">
                  <c:v>0</c:v>
                </c:pt>
                <c:pt idx="25">
                  <c:v>141</c:v>
                </c:pt>
                <c:pt idx="26">
                  <c:v>29</c:v>
                </c:pt>
                <c:pt idx="27">
                  <c:v>113</c:v>
                </c:pt>
                <c:pt idx="28">
                  <c:v>229</c:v>
                </c:pt>
                <c:pt idx="29">
                  <c:v>59</c:v>
                </c:pt>
                <c:pt idx="30">
                  <c:v>35</c:v>
                </c:pt>
                <c:pt idx="31">
                  <c:v>118</c:v>
                </c:pt>
                <c:pt idx="32">
                  <c:v>141</c:v>
                </c:pt>
                <c:pt idx="33">
                  <c:v>0</c:v>
                </c:pt>
                <c:pt idx="34">
                  <c:v>53</c:v>
                </c:pt>
                <c:pt idx="35">
                  <c:v>0</c:v>
                </c:pt>
                <c:pt idx="36">
                  <c:v>26</c:v>
                </c:pt>
                <c:pt idx="37">
                  <c:v>60</c:v>
                </c:pt>
                <c:pt idx="38">
                  <c:v>27</c:v>
                </c:pt>
                <c:pt idx="39">
                  <c:v>26</c:v>
                </c:pt>
                <c:pt idx="40">
                  <c:v>0</c:v>
                </c:pt>
                <c:pt idx="41">
                  <c:v>87</c:v>
                </c:pt>
                <c:pt idx="42">
                  <c:v>154</c:v>
                </c:pt>
                <c:pt idx="43">
                  <c:v>118</c:v>
                </c:pt>
                <c:pt idx="44">
                  <c:v>0</c:v>
                </c:pt>
                <c:pt idx="45">
                  <c:v>121</c:v>
                </c:pt>
                <c:pt idx="46">
                  <c:v>146</c:v>
                </c:pt>
                <c:pt idx="47">
                  <c:v>34</c:v>
                </c:pt>
                <c:pt idx="48">
                  <c:v>0</c:v>
                </c:pt>
                <c:pt idx="49">
                  <c:v>88</c:v>
                </c:pt>
                <c:pt idx="50">
                  <c:v>142</c:v>
                </c:pt>
                <c:pt idx="51">
                  <c:v>151</c:v>
                </c:pt>
                <c:pt idx="52">
                  <c:v>0</c:v>
                </c:pt>
                <c:pt idx="53">
                  <c:v>0</c:v>
                </c:pt>
                <c:pt idx="54">
                  <c:v>34</c:v>
                </c:pt>
                <c:pt idx="55">
                  <c:v>28</c:v>
                </c:pt>
                <c:pt idx="56">
                  <c:v>0</c:v>
                </c:pt>
                <c:pt idx="57">
                  <c:v>242</c:v>
                </c:pt>
                <c:pt idx="58">
                  <c:v>308</c:v>
                </c:pt>
                <c:pt idx="59">
                  <c:v>58</c:v>
                </c:pt>
                <c:pt idx="60">
                  <c:v>28</c:v>
                </c:pt>
                <c:pt idx="61">
                  <c:v>62</c:v>
                </c:pt>
                <c:pt idx="62">
                  <c:v>123</c:v>
                </c:pt>
                <c:pt idx="63">
                  <c:v>145</c:v>
                </c:pt>
                <c:pt idx="64">
                  <c:v>142</c:v>
                </c:pt>
                <c:pt idx="65">
                  <c:v>0</c:v>
                </c:pt>
                <c:pt idx="66">
                  <c:v>87</c:v>
                </c:pt>
                <c:pt idx="67">
                  <c:v>0</c:v>
                </c:pt>
                <c:pt idx="68">
                  <c:v>32</c:v>
                </c:pt>
                <c:pt idx="69">
                  <c:v>29</c:v>
                </c:pt>
                <c:pt idx="70">
                  <c:v>0</c:v>
                </c:pt>
                <c:pt idx="71">
                  <c:v>148</c:v>
                </c:pt>
                <c:pt idx="72">
                  <c:v>35</c:v>
                </c:pt>
                <c:pt idx="73">
                  <c:v>0</c:v>
                </c:pt>
                <c:pt idx="74">
                  <c:v>0</c:v>
                </c:pt>
                <c:pt idx="75">
                  <c:v>0</c:v>
                </c:pt>
                <c:pt idx="76">
                  <c:v>174</c:v>
                </c:pt>
                <c:pt idx="77">
                  <c:v>143</c:v>
                </c:pt>
                <c:pt idx="78">
                  <c:v>30</c:v>
                </c:pt>
                <c:pt idx="79">
                  <c:v>0</c:v>
                </c:pt>
                <c:pt idx="80">
                  <c:v>0</c:v>
                </c:pt>
                <c:pt idx="81">
                  <c:v>61</c:v>
                </c:pt>
                <c:pt idx="82">
                  <c:v>0</c:v>
                </c:pt>
                <c:pt idx="83">
                  <c:v>55</c:v>
                </c:pt>
                <c:pt idx="84">
                  <c:v>51</c:v>
                </c:pt>
                <c:pt idx="85">
                  <c:v>273</c:v>
                </c:pt>
                <c:pt idx="86">
                  <c:v>132</c:v>
                </c:pt>
                <c:pt idx="87">
                  <c:v>299</c:v>
                </c:pt>
                <c:pt idx="88">
                  <c:v>0</c:v>
                </c:pt>
                <c:pt idx="89">
                  <c:v>0</c:v>
                </c:pt>
                <c:pt idx="90">
                  <c:v>0</c:v>
                </c:pt>
                <c:pt idx="91">
                  <c:v>92</c:v>
                </c:pt>
                <c:pt idx="92">
                  <c:v>57</c:v>
                </c:pt>
                <c:pt idx="93">
                  <c:v>28</c:v>
                </c:pt>
                <c:pt idx="94">
                  <c:v>55</c:v>
                </c:pt>
                <c:pt idx="95">
                  <c:v>98</c:v>
                </c:pt>
                <c:pt idx="96">
                  <c:v>47</c:v>
                </c:pt>
                <c:pt idx="97">
                  <c:v>24</c:v>
                </c:pt>
                <c:pt idx="98">
                  <c:v>81</c:v>
                </c:pt>
                <c:pt idx="99">
                  <c:v>53</c:v>
                </c:pt>
              </c:numCache>
            </c:numRef>
          </c:val>
          <c:extLst>
            <c:ext xmlns:c16="http://schemas.microsoft.com/office/drawing/2014/chart" uri="{C3380CC4-5D6E-409C-BE32-E72D297353CC}">
              <c16:uniqueId val="{00000002-4C27-4E80-A326-3CE8C50B927B}"/>
            </c:ext>
          </c:extLst>
        </c:ser>
        <c:ser>
          <c:idx val="3"/>
          <c:order val="3"/>
          <c:tx>
            <c:strRef>
              <c:f>Sheet1!$E$1</c:f>
              <c:strCache>
                <c:ptCount val="1"/>
                <c:pt idx="0">
                  <c:v>TotalTags</c:v>
                </c:pt>
              </c:strCache>
            </c:strRef>
          </c:tx>
          <c:spPr>
            <a:solidFill>
              <a:schemeClr val="accent3"/>
            </a:solidFill>
            <a:ln>
              <a:noFill/>
            </a:ln>
            <a:effectLst/>
          </c:spPr>
          <c:invertIfNegative val="0"/>
          <c:cat>
            <c:numRef>
              <c:f>Sheet1!$A$2:$A$101</c:f>
              <c:numCache>
                <c:formatCode>General</c:formatCod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numCache>
            </c:numRef>
          </c:cat>
          <c:val>
            <c:numRef>
              <c:f>Sheet1!$E$2:$E$101</c:f>
              <c:numCache>
                <c:formatCode>General</c:formatCode>
                <c:ptCount val="100"/>
                <c:pt idx="0">
                  <c:v>5</c:v>
                </c:pt>
                <c:pt idx="1">
                  <c:v>4</c:v>
                </c:pt>
                <c:pt idx="2">
                  <c:v>4</c:v>
                </c:pt>
                <c:pt idx="3">
                  <c:v>1</c:v>
                </c:pt>
                <c:pt idx="4">
                  <c:v>0</c:v>
                </c:pt>
                <c:pt idx="5">
                  <c:v>3</c:v>
                </c:pt>
                <c:pt idx="6">
                  <c:v>0</c:v>
                </c:pt>
                <c:pt idx="7">
                  <c:v>4</c:v>
                </c:pt>
                <c:pt idx="8">
                  <c:v>3</c:v>
                </c:pt>
                <c:pt idx="9">
                  <c:v>3</c:v>
                </c:pt>
                <c:pt idx="10">
                  <c:v>4</c:v>
                </c:pt>
                <c:pt idx="11">
                  <c:v>1</c:v>
                </c:pt>
                <c:pt idx="12">
                  <c:v>3</c:v>
                </c:pt>
                <c:pt idx="13">
                  <c:v>0</c:v>
                </c:pt>
                <c:pt idx="14">
                  <c:v>3</c:v>
                </c:pt>
                <c:pt idx="15">
                  <c:v>2</c:v>
                </c:pt>
                <c:pt idx="16">
                  <c:v>3</c:v>
                </c:pt>
                <c:pt idx="17">
                  <c:v>1</c:v>
                </c:pt>
                <c:pt idx="18">
                  <c:v>2</c:v>
                </c:pt>
                <c:pt idx="19">
                  <c:v>1</c:v>
                </c:pt>
                <c:pt idx="20">
                  <c:v>0</c:v>
                </c:pt>
                <c:pt idx="21">
                  <c:v>1</c:v>
                </c:pt>
                <c:pt idx="22">
                  <c:v>10</c:v>
                </c:pt>
                <c:pt idx="23">
                  <c:v>0</c:v>
                </c:pt>
                <c:pt idx="24">
                  <c:v>0</c:v>
                </c:pt>
                <c:pt idx="25">
                  <c:v>4</c:v>
                </c:pt>
                <c:pt idx="26">
                  <c:v>0</c:v>
                </c:pt>
                <c:pt idx="27">
                  <c:v>2</c:v>
                </c:pt>
                <c:pt idx="28">
                  <c:v>7</c:v>
                </c:pt>
                <c:pt idx="29">
                  <c:v>2</c:v>
                </c:pt>
                <c:pt idx="30">
                  <c:v>1</c:v>
                </c:pt>
                <c:pt idx="31">
                  <c:v>3</c:v>
                </c:pt>
                <c:pt idx="32">
                  <c:v>4</c:v>
                </c:pt>
                <c:pt idx="33">
                  <c:v>0</c:v>
                </c:pt>
                <c:pt idx="34">
                  <c:v>0</c:v>
                </c:pt>
                <c:pt idx="35">
                  <c:v>0</c:v>
                </c:pt>
                <c:pt idx="36">
                  <c:v>1</c:v>
                </c:pt>
                <c:pt idx="37">
                  <c:v>2</c:v>
                </c:pt>
                <c:pt idx="38">
                  <c:v>1</c:v>
                </c:pt>
                <c:pt idx="39">
                  <c:v>1</c:v>
                </c:pt>
                <c:pt idx="40">
                  <c:v>0</c:v>
                </c:pt>
                <c:pt idx="41">
                  <c:v>1</c:v>
                </c:pt>
                <c:pt idx="42">
                  <c:v>3</c:v>
                </c:pt>
                <c:pt idx="43">
                  <c:v>4</c:v>
                </c:pt>
                <c:pt idx="44">
                  <c:v>0</c:v>
                </c:pt>
                <c:pt idx="45">
                  <c:v>4</c:v>
                </c:pt>
                <c:pt idx="46">
                  <c:v>2</c:v>
                </c:pt>
                <c:pt idx="47">
                  <c:v>1</c:v>
                </c:pt>
                <c:pt idx="48">
                  <c:v>0</c:v>
                </c:pt>
                <c:pt idx="49">
                  <c:v>3</c:v>
                </c:pt>
                <c:pt idx="50">
                  <c:v>5</c:v>
                </c:pt>
                <c:pt idx="51">
                  <c:v>2</c:v>
                </c:pt>
                <c:pt idx="52">
                  <c:v>0</c:v>
                </c:pt>
                <c:pt idx="53">
                  <c:v>0</c:v>
                </c:pt>
                <c:pt idx="54">
                  <c:v>1</c:v>
                </c:pt>
                <c:pt idx="55">
                  <c:v>1</c:v>
                </c:pt>
                <c:pt idx="56">
                  <c:v>0</c:v>
                </c:pt>
                <c:pt idx="57">
                  <c:v>6</c:v>
                </c:pt>
                <c:pt idx="58">
                  <c:v>8</c:v>
                </c:pt>
                <c:pt idx="59">
                  <c:v>1</c:v>
                </c:pt>
                <c:pt idx="60">
                  <c:v>1</c:v>
                </c:pt>
                <c:pt idx="61">
                  <c:v>1</c:v>
                </c:pt>
                <c:pt idx="62">
                  <c:v>4</c:v>
                </c:pt>
                <c:pt idx="63">
                  <c:v>2</c:v>
                </c:pt>
                <c:pt idx="64">
                  <c:v>5</c:v>
                </c:pt>
                <c:pt idx="65">
                  <c:v>0</c:v>
                </c:pt>
                <c:pt idx="66">
                  <c:v>1</c:v>
                </c:pt>
                <c:pt idx="67">
                  <c:v>0</c:v>
                </c:pt>
                <c:pt idx="68">
                  <c:v>1</c:v>
                </c:pt>
                <c:pt idx="69">
                  <c:v>1</c:v>
                </c:pt>
                <c:pt idx="70">
                  <c:v>0</c:v>
                </c:pt>
                <c:pt idx="71">
                  <c:v>2</c:v>
                </c:pt>
                <c:pt idx="72">
                  <c:v>0</c:v>
                </c:pt>
                <c:pt idx="73">
                  <c:v>0</c:v>
                </c:pt>
                <c:pt idx="74">
                  <c:v>0</c:v>
                </c:pt>
                <c:pt idx="75">
                  <c:v>0</c:v>
                </c:pt>
                <c:pt idx="76">
                  <c:v>4</c:v>
                </c:pt>
                <c:pt idx="77">
                  <c:v>4</c:v>
                </c:pt>
                <c:pt idx="78">
                  <c:v>1</c:v>
                </c:pt>
                <c:pt idx="79">
                  <c:v>0</c:v>
                </c:pt>
                <c:pt idx="80">
                  <c:v>0</c:v>
                </c:pt>
                <c:pt idx="81">
                  <c:v>2</c:v>
                </c:pt>
                <c:pt idx="82">
                  <c:v>0</c:v>
                </c:pt>
                <c:pt idx="83">
                  <c:v>2</c:v>
                </c:pt>
                <c:pt idx="84">
                  <c:v>1</c:v>
                </c:pt>
                <c:pt idx="85">
                  <c:v>6</c:v>
                </c:pt>
                <c:pt idx="86">
                  <c:v>3</c:v>
                </c:pt>
                <c:pt idx="87">
                  <c:v>8</c:v>
                </c:pt>
                <c:pt idx="88">
                  <c:v>0</c:v>
                </c:pt>
                <c:pt idx="89">
                  <c:v>0</c:v>
                </c:pt>
                <c:pt idx="90">
                  <c:v>0</c:v>
                </c:pt>
                <c:pt idx="91">
                  <c:v>2</c:v>
                </c:pt>
                <c:pt idx="92">
                  <c:v>2</c:v>
                </c:pt>
                <c:pt idx="93">
                  <c:v>1</c:v>
                </c:pt>
                <c:pt idx="94">
                  <c:v>0</c:v>
                </c:pt>
                <c:pt idx="95">
                  <c:v>3</c:v>
                </c:pt>
                <c:pt idx="96">
                  <c:v>2</c:v>
                </c:pt>
                <c:pt idx="97">
                  <c:v>0</c:v>
                </c:pt>
                <c:pt idx="98">
                  <c:v>2</c:v>
                </c:pt>
                <c:pt idx="99">
                  <c:v>1</c:v>
                </c:pt>
              </c:numCache>
            </c:numRef>
          </c:val>
          <c:extLst>
            <c:ext xmlns:c16="http://schemas.microsoft.com/office/drawing/2014/chart" uri="{C3380CC4-5D6E-409C-BE32-E72D297353CC}">
              <c16:uniqueId val="{00000003-4C27-4E80-A326-3CE8C50B927B}"/>
            </c:ext>
          </c:extLst>
        </c:ser>
        <c:dLbls>
          <c:showLegendKey val="0"/>
          <c:showVal val="0"/>
          <c:showCatName val="0"/>
          <c:showSerName val="0"/>
          <c:showPercent val="0"/>
          <c:showBubbleSize val="0"/>
        </c:dLbls>
        <c:gapWidth val="50"/>
        <c:overlap val="100"/>
        <c:axId val="1517419567"/>
        <c:axId val="1517443087"/>
      </c:barChart>
      <c:catAx>
        <c:axId val="1517419567"/>
        <c:scaling>
          <c:orientation val="minMax"/>
        </c:scaling>
        <c:delete val="0"/>
        <c:axPos val="b"/>
        <c:numFmt formatCode="General" sourceLinked="1"/>
        <c:majorTickMark val="out"/>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517443087"/>
        <c:crosses val="autoZero"/>
        <c:auto val="1"/>
        <c:lblAlgn val="ctr"/>
        <c:lblOffset val="100"/>
        <c:noMultiLvlLbl val="0"/>
      </c:catAx>
      <c:valAx>
        <c:axId val="1517443087"/>
        <c:scaling>
          <c:orientation val="minMax"/>
        </c:scaling>
        <c:delete val="0"/>
        <c:axPos val="l"/>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517419567"/>
        <c:crosses val="autoZero"/>
        <c:crossBetween val="between"/>
      </c:valAx>
      <c:spPr>
        <a:noFill/>
        <a:ln>
          <a:noFill/>
        </a:ln>
        <a:effectLst/>
      </c:spPr>
    </c:plotArea>
    <c:legend>
      <c:legendPos val="b"/>
      <c:legendEntry>
        <c:idx val="0"/>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972361464268492E-2"/>
          <c:y val="4.2921227405272634E-2"/>
          <c:w val="0.93881930272468039"/>
          <c:h val="0.85694663671476856"/>
        </c:manualLayout>
      </c:layout>
      <c:barChart>
        <c:barDir val="col"/>
        <c:grouping val="clustered"/>
        <c:varyColors val="0"/>
        <c:ser>
          <c:idx val="0"/>
          <c:order val="0"/>
          <c:tx>
            <c:strRef>
              <c:f>Sheet1!$B$1</c:f>
              <c:strCache>
                <c:ptCount val="1"/>
                <c:pt idx="0">
                  <c:v>UsageCount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0"/>
                <c:pt idx="0">
                  <c:v>smile</c:v>
                </c:pt>
                <c:pt idx="1">
                  <c:v>beach</c:v>
                </c:pt>
                <c:pt idx="2">
                  <c:v>party</c:v>
                </c:pt>
                <c:pt idx="3">
                  <c:v>fun</c:v>
                </c:pt>
                <c:pt idx="4">
                  <c:v>concert</c:v>
                </c:pt>
                <c:pt idx="5">
                  <c:v>food</c:v>
                </c:pt>
                <c:pt idx="6">
                  <c:v>lol</c:v>
                </c:pt>
                <c:pt idx="7">
                  <c:v>hair</c:v>
                </c:pt>
                <c:pt idx="8">
                  <c:v>happy</c:v>
                </c:pt>
                <c:pt idx="9">
                  <c:v>beauty</c:v>
                </c:pt>
              </c:strCache>
            </c:strRef>
          </c:cat>
          <c:val>
            <c:numRef>
              <c:f>Sheet1!$B$2:$B$12</c:f>
              <c:numCache>
                <c:formatCode>General</c:formatCode>
                <c:ptCount val="11"/>
                <c:pt idx="0">
                  <c:v>59</c:v>
                </c:pt>
                <c:pt idx="1">
                  <c:v>42</c:v>
                </c:pt>
                <c:pt idx="2">
                  <c:v>39</c:v>
                </c:pt>
                <c:pt idx="3">
                  <c:v>38</c:v>
                </c:pt>
                <c:pt idx="4">
                  <c:v>24</c:v>
                </c:pt>
                <c:pt idx="5">
                  <c:v>24</c:v>
                </c:pt>
                <c:pt idx="6">
                  <c:v>24</c:v>
                </c:pt>
                <c:pt idx="7">
                  <c:v>23</c:v>
                </c:pt>
                <c:pt idx="8">
                  <c:v>22</c:v>
                </c:pt>
                <c:pt idx="9">
                  <c:v>20</c:v>
                </c:pt>
              </c:numCache>
            </c:numRef>
          </c:val>
          <c:extLst>
            <c:ext xmlns:c16="http://schemas.microsoft.com/office/drawing/2014/chart" uri="{C3380CC4-5D6E-409C-BE32-E72D297353CC}">
              <c16:uniqueId val="{00000000-5B91-47F3-B3BF-81ED6C41FCB6}"/>
            </c:ext>
          </c:extLst>
        </c:ser>
        <c:ser>
          <c:idx val="1"/>
          <c:order val="1"/>
          <c:tx>
            <c:strRef>
              <c:f>Sheet1!$C$1</c:f>
              <c:strCache>
                <c:ptCount val="1"/>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0"/>
                <c:pt idx="0">
                  <c:v>smile</c:v>
                </c:pt>
                <c:pt idx="1">
                  <c:v>beach</c:v>
                </c:pt>
                <c:pt idx="2">
                  <c:v>party</c:v>
                </c:pt>
                <c:pt idx="3">
                  <c:v>fun</c:v>
                </c:pt>
                <c:pt idx="4">
                  <c:v>concert</c:v>
                </c:pt>
                <c:pt idx="5">
                  <c:v>food</c:v>
                </c:pt>
                <c:pt idx="6">
                  <c:v>lol</c:v>
                </c:pt>
                <c:pt idx="7">
                  <c:v>hair</c:v>
                </c:pt>
                <c:pt idx="8">
                  <c:v>happy</c:v>
                </c:pt>
                <c:pt idx="9">
                  <c:v>beauty</c:v>
                </c:pt>
              </c:strCache>
            </c:strRef>
          </c:cat>
          <c:val>
            <c:numRef>
              <c:f>Sheet1!$C$2:$C$12</c:f>
              <c:numCache>
                <c:formatCode>General</c:formatCode>
                <c:ptCount val="11"/>
              </c:numCache>
            </c:numRef>
          </c:val>
          <c:extLst>
            <c:ext xmlns:c16="http://schemas.microsoft.com/office/drawing/2014/chart" uri="{C3380CC4-5D6E-409C-BE32-E72D297353CC}">
              <c16:uniqueId val="{00000001-5B91-47F3-B3BF-81ED6C41FCB6}"/>
            </c:ext>
          </c:extLst>
        </c:ser>
        <c:ser>
          <c:idx val="2"/>
          <c:order val="2"/>
          <c:tx>
            <c:strRef>
              <c:f>Sheet1!$D$1</c:f>
              <c:strCache>
                <c:ptCount val="1"/>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0"/>
                <c:pt idx="0">
                  <c:v>smile</c:v>
                </c:pt>
                <c:pt idx="1">
                  <c:v>beach</c:v>
                </c:pt>
                <c:pt idx="2">
                  <c:v>party</c:v>
                </c:pt>
                <c:pt idx="3">
                  <c:v>fun</c:v>
                </c:pt>
                <c:pt idx="4">
                  <c:v>concert</c:v>
                </c:pt>
                <c:pt idx="5">
                  <c:v>food</c:v>
                </c:pt>
                <c:pt idx="6">
                  <c:v>lol</c:v>
                </c:pt>
                <c:pt idx="7">
                  <c:v>hair</c:v>
                </c:pt>
                <c:pt idx="8">
                  <c:v>happy</c:v>
                </c:pt>
                <c:pt idx="9">
                  <c:v>beauty</c:v>
                </c:pt>
              </c:strCache>
            </c:strRef>
          </c:cat>
          <c:val>
            <c:numRef>
              <c:f>Sheet1!$D$2:$D$12</c:f>
              <c:numCache>
                <c:formatCode>General</c:formatCode>
                <c:ptCount val="11"/>
              </c:numCache>
            </c:numRef>
          </c:val>
          <c:extLst>
            <c:ext xmlns:c16="http://schemas.microsoft.com/office/drawing/2014/chart" uri="{C3380CC4-5D6E-409C-BE32-E72D297353CC}">
              <c16:uniqueId val="{00000002-5B91-47F3-B3BF-81ED6C41FCB6}"/>
            </c:ext>
          </c:extLst>
        </c:ser>
        <c:dLbls>
          <c:dLblPos val="outEnd"/>
          <c:showLegendKey val="0"/>
          <c:showVal val="1"/>
          <c:showCatName val="0"/>
          <c:showSerName val="0"/>
          <c:showPercent val="0"/>
          <c:showBubbleSize val="0"/>
        </c:dLbls>
        <c:gapWidth val="219"/>
        <c:overlap val="-27"/>
        <c:axId val="1636535999"/>
        <c:axId val="1636536479"/>
      </c:barChart>
      <c:catAx>
        <c:axId val="163653599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636536479"/>
        <c:crosses val="autoZero"/>
        <c:auto val="1"/>
        <c:lblAlgn val="ctr"/>
        <c:lblOffset val="100"/>
        <c:noMultiLvlLbl val="0"/>
      </c:catAx>
      <c:valAx>
        <c:axId val="16365364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6365359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average_engagement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delicious</c:v>
                </c:pt>
                <c:pt idx="1">
                  <c:v>beauty</c:v>
                </c:pt>
                <c:pt idx="2">
                  <c:v>foodie</c:v>
                </c:pt>
                <c:pt idx="3">
                  <c:v>sunset</c:v>
                </c:pt>
                <c:pt idx="4">
                  <c:v>stunning</c:v>
                </c:pt>
                <c:pt idx="5">
                  <c:v>food</c:v>
                </c:pt>
                <c:pt idx="6">
                  <c:v>photography</c:v>
                </c:pt>
                <c:pt idx="7">
                  <c:v>dreamy</c:v>
                </c:pt>
                <c:pt idx="8">
                  <c:v>smile</c:v>
                </c:pt>
                <c:pt idx="9">
                  <c:v>party</c:v>
                </c:pt>
              </c:strCache>
            </c:strRef>
          </c:cat>
          <c:val>
            <c:numRef>
              <c:f>Sheet1!$B$2:$B$11</c:f>
              <c:numCache>
                <c:formatCode>General</c:formatCode>
                <c:ptCount val="10"/>
                <c:pt idx="0">
                  <c:v>65.2667</c:v>
                </c:pt>
                <c:pt idx="1">
                  <c:v>65.150000000000006</c:v>
                </c:pt>
                <c:pt idx="2">
                  <c:v>64.636399999999995</c:v>
                </c:pt>
                <c:pt idx="3">
                  <c:v>64.421099999999996</c:v>
                </c:pt>
                <c:pt idx="4">
                  <c:v>64.25</c:v>
                </c:pt>
                <c:pt idx="5">
                  <c:v>64.125</c:v>
                </c:pt>
                <c:pt idx="6">
                  <c:v>64</c:v>
                </c:pt>
                <c:pt idx="7">
                  <c:v>63.9</c:v>
                </c:pt>
                <c:pt idx="8">
                  <c:v>63.694899999999997</c:v>
                </c:pt>
                <c:pt idx="9">
                  <c:v>63.435899999999997</c:v>
                </c:pt>
              </c:numCache>
            </c:numRef>
          </c:val>
          <c:extLst>
            <c:ext xmlns:c16="http://schemas.microsoft.com/office/drawing/2014/chart" uri="{C3380CC4-5D6E-409C-BE32-E72D297353CC}">
              <c16:uniqueId val="{00000000-E04E-4D06-81FA-7AFD9D927013}"/>
            </c:ext>
          </c:extLst>
        </c:ser>
        <c:dLbls>
          <c:dLblPos val="outEnd"/>
          <c:showLegendKey val="0"/>
          <c:showVal val="1"/>
          <c:showCatName val="0"/>
          <c:showSerName val="0"/>
          <c:showPercent val="0"/>
          <c:showBubbleSize val="0"/>
        </c:dLbls>
        <c:gapWidth val="219"/>
        <c:overlap val="-27"/>
        <c:axId val="1636538399"/>
        <c:axId val="1636539359"/>
      </c:barChart>
      <c:catAx>
        <c:axId val="1636538399"/>
        <c:scaling>
          <c:orientation val="minMax"/>
        </c:scaling>
        <c:delete val="0"/>
        <c:axPos val="b"/>
        <c:title>
          <c:tx>
            <c:rich>
              <a:bodyPr rot="0" spcFirstLastPara="1" vertOverflow="ellipsis" vert="horz" wrap="square" anchor="ctr" anchorCtr="1"/>
              <a:lstStyle/>
              <a:p>
                <a:pPr>
                  <a:defRPr sz="1330" b="1" i="0" u="none" strike="noStrike" kern="1200" baseline="0">
                    <a:solidFill>
                      <a:schemeClr val="tx1"/>
                    </a:solidFill>
                    <a:latin typeface="+mn-lt"/>
                    <a:ea typeface="+mn-ea"/>
                    <a:cs typeface="+mn-cs"/>
                  </a:defRPr>
                </a:pPr>
                <a:r>
                  <a:rPr lang="en-IN" b="1" dirty="0">
                    <a:solidFill>
                      <a:schemeClr val="tx1"/>
                    </a:solidFill>
                  </a:rPr>
                  <a:t>Tag Name</a:t>
                </a:r>
                <a:r>
                  <a:rPr lang="en-IN" b="1" baseline="0" dirty="0">
                    <a:solidFill>
                      <a:schemeClr val="tx1"/>
                    </a:solidFill>
                  </a:rPr>
                  <a:t> </a:t>
                </a:r>
                <a:endParaRPr lang="en-IN" b="1" dirty="0">
                  <a:solidFill>
                    <a:schemeClr val="tx1"/>
                  </a:solidFill>
                </a:endParaRPr>
              </a:p>
            </c:rich>
          </c:tx>
          <c:layout>
            <c:manualLayout>
              <c:xMode val="edge"/>
              <c:yMode val="edge"/>
              <c:x val="0.43842626312335958"/>
              <c:y val="0.93029062749173652"/>
            </c:manualLayout>
          </c:layout>
          <c:overlay val="0"/>
          <c:spPr>
            <a:noFill/>
            <a:ln>
              <a:noFill/>
            </a:ln>
            <a:effectLst/>
          </c:spPr>
          <c:txPr>
            <a:bodyPr rot="0" spcFirstLastPara="1" vertOverflow="ellipsis" vert="horz" wrap="square" anchor="ctr" anchorCtr="1"/>
            <a:lstStyle/>
            <a:p>
              <a:pPr>
                <a:defRPr sz="1330" b="1" i="0" u="none" strike="noStrike" kern="1200" baseline="0">
                  <a:solidFill>
                    <a:schemeClr val="tx1"/>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636539359"/>
        <c:crosses val="autoZero"/>
        <c:auto val="1"/>
        <c:lblAlgn val="ctr"/>
        <c:lblOffset val="100"/>
        <c:noMultiLvlLbl val="0"/>
      </c:catAx>
      <c:valAx>
        <c:axId val="16365393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6365383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TotalEngagement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Eveline95</c:v>
                </c:pt>
                <c:pt idx="1">
                  <c:v>Cesar93</c:v>
                </c:pt>
                <c:pt idx="2">
                  <c:v>Clint27</c:v>
                </c:pt>
                <c:pt idx="3">
                  <c:v>Delfina_VonRueden68</c:v>
                </c:pt>
                <c:pt idx="4">
                  <c:v>Aurelie71</c:v>
                </c:pt>
                <c:pt idx="5">
                  <c:v>Jaime53</c:v>
                </c:pt>
                <c:pt idx="6">
                  <c:v>Donald.Fritsch</c:v>
                </c:pt>
                <c:pt idx="7">
                  <c:v>Janet.Armstrong</c:v>
                </c:pt>
                <c:pt idx="8">
                  <c:v>Zack_Kemmer93</c:v>
                </c:pt>
                <c:pt idx="9">
                  <c:v>Kathryn80</c:v>
                </c:pt>
              </c:strCache>
            </c:strRef>
          </c:cat>
          <c:val>
            <c:numRef>
              <c:f>Sheet1!$B$2:$B$11</c:f>
              <c:numCache>
                <c:formatCode>General</c:formatCode>
                <c:ptCount val="10"/>
                <c:pt idx="0">
                  <c:v>341</c:v>
                </c:pt>
                <c:pt idx="1">
                  <c:v>318</c:v>
                </c:pt>
                <c:pt idx="2">
                  <c:v>310</c:v>
                </c:pt>
                <c:pt idx="3">
                  <c:v>282</c:v>
                </c:pt>
                <c:pt idx="4">
                  <c:v>250</c:v>
                </c:pt>
                <c:pt idx="5">
                  <c:v>237</c:v>
                </c:pt>
                <c:pt idx="6">
                  <c:v>180</c:v>
                </c:pt>
                <c:pt idx="7">
                  <c:v>159</c:v>
                </c:pt>
                <c:pt idx="8">
                  <c:v>156</c:v>
                </c:pt>
                <c:pt idx="9">
                  <c:v>153</c:v>
                </c:pt>
              </c:numCache>
            </c:numRef>
          </c:val>
          <c:extLst>
            <c:ext xmlns:c16="http://schemas.microsoft.com/office/drawing/2014/chart" uri="{C3380CC4-5D6E-409C-BE32-E72D297353CC}">
              <c16:uniqueId val="{00000000-2B00-44B2-8801-AC0600B3A8CE}"/>
            </c:ext>
          </c:extLst>
        </c:ser>
        <c:dLbls>
          <c:dLblPos val="outEnd"/>
          <c:showLegendKey val="0"/>
          <c:showVal val="1"/>
          <c:showCatName val="0"/>
          <c:showSerName val="0"/>
          <c:showPercent val="0"/>
          <c:showBubbleSize val="0"/>
        </c:dLbls>
        <c:gapWidth val="219"/>
        <c:overlap val="-27"/>
        <c:axId val="1303322879"/>
        <c:axId val="1303320959"/>
      </c:barChart>
      <c:catAx>
        <c:axId val="13033228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303320959"/>
        <c:crosses val="autoZero"/>
        <c:auto val="1"/>
        <c:lblAlgn val="ctr"/>
        <c:lblOffset val="100"/>
        <c:noMultiLvlLbl val="0"/>
      </c:catAx>
      <c:valAx>
        <c:axId val="13033209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3033228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0435941601049866E-2"/>
          <c:y val="9.0651927726053932E-2"/>
          <c:w val="0.94810572506561674"/>
          <c:h val="0.74431508772326516"/>
        </c:manualLayout>
      </c:layout>
      <c:barChart>
        <c:barDir val="col"/>
        <c:grouping val="clustered"/>
        <c:varyColors val="0"/>
        <c:ser>
          <c:idx val="0"/>
          <c:order val="0"/>
          <c:tx>
            <c:strRef>
              <c:f>Sheet1!$B$1</c:f>
              <c:strCache>
                <c:ptCount val="1"/>
                <c:pt idx="0">
                  <c:v>AvgLikes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dreamy</c:v>
                </c:pt>
                <c:pt idx="1">
                  <c:v>beauty</c:v>
                </c:pt>
                <c:pt idx="2">
                  <c:v>stunning</c:v>
                </c:pt>
                <c:pt idx="3">
                  <c:v>delicious</c:v>
                </c:pt>
                <c:pt idx="4">
                  <c:v>foodie</c:v>
                </c:pt>
                <c:pt idx="5">
                  <c:v>happy</c:v>
                </c:pt>
                <c:pt idx="6">
                  <c:v>hair</c:v>
                </c:pt>
                <c:pt idx="7">
                  <c:v>photography</c:v>
                </c:pt>
                <c:pt idx="8">
                  <c:v>beach</c:v>
                </c:pt>
                <c:pt idx="9">
                  <c:v>style</c:v>
                </c:pt>
              </c:strCache>
            </c:strRef>
          </c:cat>
          <c:val>
            <c:numRef>
              <c:f>Sheet1!$B$2:$B$11</c:f>
              <c:numCache>
                <c:formatCode>General</c:formatCode>
                <c:ptCount val="10"/>
                <c:pt idx="0">
                  <c:v>35.75</c:v>
                </c:pt>
                <c:pt idx="1">
                  <c:v>34.950000000000003</c:v>
                </c:pt>
                <c:pt idx="2">
                  <c:v>34.9375</c:v>
                </c:pt>
                <c:pt idx="3">
                  <c:v>34.933300000000003</c:v>
                </c:pt>
                <c:pt idx="4">
                  <c:v>34.7273</c:v>
                </c:pt>
                <c:pt idx="5">
                  <c:v>34.590899999999998</c:v>
                </c:pt>
                <c:pt idx="6">
                  <c:v>34.521700000000003</c:v>
                </c:pt>
                <c:pt idx="7">
                  <c:v>34.5</c:v>
                </c:pt>
                <c:pt idx="8">
                  <c:v>34.476199999999999</c:v>
                </c:pt>
                <c:pt idx="9">
                  <c:v>34.470599999999997</c:v>
                </c:pt>
              </c:numCache>
            </c:numRef>
          </c:val>
          <c:extLst>
            <c:ext xmlns:c16="http://schemas.microsoft.com/office/drawing/2014/chart" uri="{C3380CC4-5D6E-409C-BE32-E72D297353CC}">
              <c16:uniqueId val="{00000000-9672-4501-802E-8305AF184ADD}"/>
            </c:ext>
          </c:extLst>
        </c:ser>
        <c:ser>
          <c:idx val="1"/>
          <c:order val="1"/>
          <c:tx>
            <c:strRef>
              <c:f>Sheet1!$C$1</c:f>
              <c:strCache>
                <c:ptCount val="1"/>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dreamy</c:v>
                </c:pt>
                <c:pt idx="1">
                  <c:v>beauty</c:v>
                </c:pt>
                <c:pt idx="2">
                  <c:v>stunning</c:v>
                </c:pt>
                <c:pt idx="3">
                  <c:v>delicious</c:v>
                </c:pt>
                <c:pt idx="4">
                  <c:v>foodie</c:v>
                </c:pt>
                <c:pt idx="5">
                  <c:v>happy</c:v>
                </c:pt>
                <c:pt idx="6">
                  <c:v>hair</c:v>
                </c:pt>
                <c:pt idx="7">
                  <c:v>photography</c:v>
                </c:pt>
                <c:pt idx="8">
                  <c:v>beach</c:v>
                </c:pt>
                <c:pt idx="9">
                  <c:v>style</c:v>
                </c:pt>
              </c:strCache>
            </c:strRef>
          </c:cat>
          <c:val>
            <c:numRef>
              <c:f>Sheet1!$C$2:$C$11</c:f>
              <c:numCache>
                <c:formatCode>General</c:formatCode>
                <c:ptCount val="10"/>
              </c:numCache>
            </c:numRef>
          </c:val>
          <c:extLst>
            <c:ext xmlns:c16="http://schemas.microsoft.com/office/drawing/2014/chart" uri="{C3380CC4-5D6E-409C-BE32-E72D297353CC}">
              <c16:uniqueId val="{00000001-9672-4501-802E-8305AF184ADD}"/>
            </c:ext>
          </c:extLst>
        </c:ser>
        <c:ser>
          <c:idx val="2"/>
          <c:order val="2"/>
          <c:tx>
            <c:strRef>
              <c:f>Sheet1!$D$1</c:f>
              <c:strCache>
                <c:ptCount val="1"/>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dreamy</c:v>
                </c:pt>
                <c:pt idx="1">
                  <c:v>beauty</c:v>
                </c:pt>
                <c:pt idx="2">
                  <c:v>stunning</c:v>
                </c:pt>
                <c:pt idx="3">
                  <c:v>delicious</c:v>
                </c:pt>
                <c:pt idx="4">
                  <c:v>foodie</c:v>
                </c:pt>
                <c:pt idx="5">
                  <c:v>happy</c:v>
                </c:pt>
                <c:pt idx="6">
                  <c:v>hair</c:v>
                </c:pt>
                <c:pt idx="7">
                  <c:v>photography</c:v>
                </c:pt>
                <c:pt idx="8">
                  <c:v>beach</c:v>
                </c:pt>
                <c:pt idx="9">
                  <c:v>style</c:v>
                </c:pt>
              </c:strCache>
            </c:strRef>
          </c:cat>
          <c:val>
            <c:numRef>
              <c:f>Sheet1!$D$2:$D$11</c:f>
              <c:numCache>
                <c:formatCode>General</c:formatCode>
                <c:ptCount val="10"/>
              </c:numCache>
            </c:numRef>
          </c:val>
          <c:extLst>
            <c:ext xmlns:c16="http://schemas.microsoft.com/office/drawing/2014/chart" uri="{C3380CC4-5D6E-409C-BE32-E72D297353CC}">
              <c16:uniqueId val="{00000002-9672-4501-802E-8305AF184ADD}"/>
            </c:ext>
          </c:extLst>
        </c:ser>
        <c:dLbls>
          <c:dLblPos val="outEnd"/>
          <c:showLegendKey val="0"/>
          <c:showVal val="1"/>
          <c:showCatName val="0"/>
          <c:showSerName val="0"/>
          <c:showPercent val="0"/>
          <c:showBubbleSize val="0"/>
        </c:dLbls>
        <c:gapWidth val="219"/>
        <c:overlap val="-27"/>
        <c:axId val="1060795439"/>
        <c:axId val="1060796879"/>
      </c:barChart>
      <c:catAx>
        <c:axId val="10607954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060796879"/>
        <c:crosses val="autoZero"/>
        <c:auto val="1"/>
        <c:lblAlgn val="ctr"/>
        <c:lblOffset val="100"/>
        <c:noMultiLvlLbl val="0"/>
      </c:catAx>
      <c:valAx>
        <c:axId val="10607968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060795439"/>
        <c:crosses val="autoZero"/>
        <c:crossBetween val="between"/>
      </c:valAx>
      <c:spPr>
        <a:noFill/>
        <a:ln>
          <a:noFill/>
        </a:ln>
        <a:effectLst/>
      </c:spPr>
    </c:plotArea>
    <c:legend>
      <c:legendPos val="b"/>
      <c:legendEntry>
        <c:idx val="1"/>
        <c:delete val="1"/>
      </c:legendEntry>
      <c:legendEntry>
        <c:idx val="2"/>
        <c:delete val="1"/>
      </c:legendEntry>
      <c:layout>
        <c:manualLayout>
          <c:xMode val="edge"/>
          <c:yMode val="edge"/>
          <c:x val="0.36773064304461944"/>
          <c:y val="0.9208380205124147"/>
          <c:w val="0.16662196522309713"/>
          <c:h val="6.1214087728918058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Column2</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6A6-4281-BDD7-A8426098B39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6A6-4281-BDD7-A8426098B390}"/>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numRef>
              <c:f>Sheet1!$A$2</c:f>
              <c:numCache>
                <c:formatCode>General</c:formatCode>
                <c:ptCount val="1"/>
              </c:numCache>
            </c:numRef>
          </c:cat>
          <c:val>
            <c:numRef>
              <c:f>Sheet1!$B$2:$C$2</c:f>
              <c:numCache>
                <c:formatCode>General</c:formatCode>
                <c:ptCount val="2"/>
                <c:pt idx="0">
                  <c:v>23</c:v>
                </c:pt>
                <c:pt idx="1">
                  <c:v>77</c:v>
                </c:pt>
              </c:numCache>
            </c:numRef>
          </c:val>
          <c:extLst>
            <c:ext xmlns:c16="http://schemas.microsoft.com/office/drawing/2014/chart" uri="{C3380CC4-5D6E-409C-BE32-E72D297353CC}">
              <c16:uniqueId val="{00000000-0C5E-4352-B93D-35E4463D2B67}"/>
            </c:ext>
          </c:extLst>
        </c:ser>
        <c:ser>
          <c:idx val="1"/>
          <c:order val="1"/>
          <c:tx>
            <c:strRef>
              <c:f>Sheet1!$C$1</c:f>
              <c:strCache>
                <c:ptCount val="1"/>
                <c:pt idx="0">
                  <c:v>Column3</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5-46A6-4281-BDD7-A8426098B390}"/>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numRef>
              <c:f>Sheet1!$A$2</c:f>
              <c:numCache>
                <c:formatCode>General</c:formatCode>
                <c:ptCount val="1"/>
              </c:numCache>
            </c:numRef>
          </c:cat>
          <c:val>
            <c:numRef>
              <c:f>Sheet1!$C$2</c:f>
              <c:numCache>
                <c:formatCode>General</c:formatCode>
                <c:ptCount val="1"/>
                <c:pt idx="0">
                  <c:v>77</c:v>
                </c:pt>
              </c:numCache>
            </c:numRef>
          </c:val>
          <c:extLst>
            <c:ext xmlns:c16="http://schemas.microsoft.com/office/drawing/2014/chart" uri="{C3380CC4-5D6E-409C-BE32-E72D297353CC}">
              <c16:uniqueId val="{00000001-0C5E-4352-B93D-35E4463D2B67}"/>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Count of user_id</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3F5-400C-B79C-6403AF4A6FB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3F5-400C-B79C-6403AF4A6FB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3F5-400C-B79C-6403AF4A6FB5}"/>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93F5-400C-B79C-6403AF4A6FB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3"/>
                <c:pt idx="0">
                  <c:v>High</c:v>
                </c:pt>
                <c:pt idx="1">
                  <c:v>Low</c:v>
                </c:pt>
                <c:pt idx="2">
                  <c:v>Medium</c:v>
                </c:pt>
              </c:strCache>
            </c:strRef>
          </c:cat>
          <c:val>
            <c:numRef>
              <c:f>Sheet1!$B$2:$B$5</c:f>
              <c:numCache>
                <c:formatCode>General</c:formatCode>
                <c:ptCount val="4"/>
                <c:pt idx="0">
                  <c:v>30</c:v>
                </c:pt>
                <c:pt idx="1">
                  <c:v>36</c:v>
                </c:pt>
                <c:pt idx="2">
                  <c:v>34</c:v>
                </c:pt>
              </c:numCache>
            </c:numRef>
          </c:val>
          <c:extLst>
            <c:ext xmlns:c16="http://schemas.microsoft.com/office/drawing/2014/chart" uri="{C3380CC4-5D6E-409C-BE32-E72D297353CC}">
              <c16:uniqueId val="{00000000-4AF2-4799-B9F7-2F748FDE4F0A}"/>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33D50-33A1-1C28-E666-01020F9541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9EF424-7F6F-23CB-32F1-5CF60D67F3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E71426-1C42-2A80-8742-D074926D1D4A}"/>
              </a:ext>
            </a:extLst>
          </p:cNvPr>
          <p:cNvSpPr>
            <a:spLocks noGrp="1"/>
          </p:cNvSpPr>
          <p:nvPr>
            <p:ph type="dt" sz="half" idx="10"/>
          </p:nvPr>
        </p:nvSpPr>
        <p:spPr/>
        <p:txBody>
          <a:bodyPr/>
          <a:lstStyle/>
          <a:p>
            <a:fld id="{DB3472D1-E4CE-4F06-847B-D8E4BD90E825}" type="datetimeFigureOut">
              <a:rPr lang="en-IN" smtClean="0"/>
              <a:t>02-10-2025</a:t>
            </a:fld>
            <a:endParaRPr lang="en-IN"/>
          </a:p>
        </p:txBody>
      </p:sp>
      <p:sp>
        <p:nvSpPr>
          <p:cNvPr id="5" name="Footer Placeholder 4">
            <a:extLst>
              <a:ext uri="{FF2B5EF4-FFF2-40B4-BE49-F238E27FC236}">
                <a16:creationId xmlns:a16="http://schemas.microsoft.com/office/drawing/2014/main" id="{D0AA1175-75FD-8EBF-E280-F452B2869E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C83557-28F1-0E96-F669-A904A6808FDF}"/>
              </a:ext>
            </a:extLst>
          </p:cNvPr>
          <p:cNvSpPr>
            <a:spLocks noGrp="1"/>
          </p:cNvSpPr>
          <p:nvPr>
            <p:ph type="sldNum" sz="quarter" idx="12"/>
          </p:nvPr>
        </p:nvSpPr>
        <p:spPr/>
        <p:txBody>
          <a:bodyPr/>
          <a:lstStyle/>
          <a:p>
            <a:fld id="{6AD859D4-9D61-419F-8ED9-9D17DCBD5185}" type="slidenum">
              <a:rPr lang="en-IN" smtClean="0"/>
              <a:t>‹#›</a:t>
            </a:fld>
            <a:endParaRPr lang="en-IN"/>
          </a:p>
        </p:txBody>
      </p:sp>
    </p:spTree>
    <p:extLst>
      <p:ext uri="{BB962C8B-B14F-4D97-AF65-F5344CB8AC3E}">
        <p14:creationId xmlns:p14="http://schemas.microsoft.com/office/powerpoint/2010/main" val="4252630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662FF-7D36-130D-8E6C-BFD117EF90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E527E4-B687-6B10-42B7-91CA8AE43B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3545EE-2DF7-6C88-2428-FE50BC59F763}"/>
              </a:ext>
            </a:extLst>
          </p:cNvPr>
          <p:cNvSpPr>
            <a:spLocks noGrp="1"/>
          </p:cNvSpPr>
          <p:nvPr>
            <p:ph type="dt" sz="half" idx="10"/>
          </p:nvPr>
        </p:nvSpPr>
        <p:spPr/>
        <p:txBody>
          <a:bodyPr/>
          <a:lstStyle/>
          <a:p>
            <a:fld id="{DB3472D1-E4CE-4F06-847B-D8E4BD90E825}" type="datetimeFigureOut">
              <a:rPr lang="en-IN" smtClean="0"/>
              <a:t>02-10-2025</a:t>
            </a:fld>
            <a:endParaRPr lang="en-IN"/>
          </a:p>
        </p:txBody>
      </p:sp>
      <p:sp>
        <p:nvSpPr>
          <p:cNvPr id="5" name="Footer Placeholder 4">
            <a:extLst>
              <a:ext uri="{FF2B5EF4-FFF2-40B4-BE49-F238E27FC236}">
                <a16:creationId xmlns:a16="http://schemas.microsoft.com/office/drawing/2014/main" id="{CCD80FCB-2F17-83B1-084C-156352B78F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046817-F83D-5C37-CD6E-AF190BC00B01}"/>
              </a:ext>
            </a:extLst>
          </p:cNvPr>
          <p:cNvSpPr>
            <a:spLocks noGrp="1"/>
          </p:cNvSpPr>
          <p:nvPr>
            <p:ph type="sldNum" sz="quarter" idx="12"/>
          </p:nvPr>
        </p:nvSpPr>
        <p:spPr/>
        <p:txBody>
          <a:bodyPr/>
          <a:lstStyle/>
          <a:p>
            <a:fld id="{6AD859D4-9D61-419F-8ED9-9D17DCBD5185}" type="slidenum">
              <a:rPr lang="en-IN" smtClean="0"/>
              <a:t>‹#›</a:t>
            </a:fld>
            <a:endParaRPr lang="en-IN"/>
          </a:p>
        </p:txBody>
      </p:sp>
    </p:spTree>
    <p:extLst>
      <p:ext uri="{BB962C8B-B14F-4D97-AF65-F5344CB8AC3E}">
        <p14:creationId xmlns:p14="http://schemas.microsoft.com/office/powerpoint/2010/main" val="2792384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5034A-3866-27F6-D4C9-2D67B93B9A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876DFE4-A181-7244-19B7-4132FAF8A7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5E6986-6524-970C-5BD6-FD4D815BD0AF}"/>
              </a:ext>
            </a:extLst>
          </p:cNvPr>
          <p:cNvSpPr>
            <a:spLocks noGrp="1"/>
          </p:cNvSpPr>
          <p:nvPr>
            <p:ph type="dt" sz="half" idx="10"/>
          </p:nvPr>
        </p:nvSpPr>
        <p:spPr/>
        <p:txBody>
          <a:bodyPr/>
          <a:lstStyle/>
          <a:p>
            <a:fld id="{DB3472D1-E4CE-4F06-847B-D8E4BD90E825}" type="datetimeFigureOut">
              <a:rPr lang="en-IN" smtClean="0"/>
              <a:t>02-10-2025</a:t>
            </a:fld>
            <a:endParaRPr lang="en-IN"/>
          </a:p>
        </p:txBody>
      </p:sp>
      <p:sp>
        <p:nvSpPr>
          <p:cNvPr id="5" name="Footer Placeholder 4">
            <a:extLst>
              <a:ext uri="{FF2B5EF4-FFF2-40B4-BE49-F238E27FC236}">
                <a16:creationId xmlns:a16="http://schemas.microsoft.com/office/drawing/2014/main" id="{89E4FC25-5043-7022-26E7-F7C5F11AF8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B5D828-34FA-40F9-5284-4780231BFD5C}"/>
              </a:ext>
            </a:extLst>
          </p:cNvPr>
          <p:cNvSpPr>
            <a:spLocks noGrp="1"/>
          </p:cNvSpPr>
          <p:nvPr>
            <p:ph type="sldNum" sz="quarter" idx="12"/>
          </p:nvPr>
        </p:nvSpPr>
        <p:spPr/>
        <p:txBody>
          <a:bodyPr/>
          <a:lstStyle/>
          <a:p>
            <a:fld id="{6AD859D4-9D61-419F-8ED9-9D17DCBD5185}" type="slidenum">
              <a:rPr lang="en-IN" smtClean="0"/>
              <a:t>‹#›</a:t>
            </a:fld>
            <a:endParaRPr lang="en-IN"/>
          </a:p>
        </p:txBody>
      </p:sp>
    </p:spTree>
    <p:extLst>
      <p:ext uri="{BB962C8B-B14F-4D97-AF65-F5344CB8AC3E}">
        <p14:creationId xmlns:p14="http://schemas.microsoft.com/office/powerpoint/2010/main" val="3875199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D917C-CE3D-47E2-FF2E-0FF1E05529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6AE68B-D35A-AFFD-1E53-21AE4CCA35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9C5F78-F631-F75A-53BB-88F5654EDB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13773E-1FC8-50DD-77B1-2120A61F14AA}"/>
              </a:ext>
            </a:extLst>
          </p:cNvPr>
          <p:cNvSpPr>
            <a:spLocks noGrp="1"/>
          </p:cNvSpPr>
          <p:nvPr>
            <p:ph type="dt" sz="half" idx="10"/>
          </p:nvPr>
        </p:nvSpPr>
        <p:spPr/>
        <p:txBody>
          <a:bodyPr/>
          <a:lstStyle/>
          <a:p>
            <a:fld id="{DB3472D1-E4CE-4F06-847B-D8E4BD90E825}" type="datetimeFigureOut">
              <a:rPr lang="en-IN" smtClean="0"/>
              <a:t>02-10-2025</a:t>
            </a:fld>
            <a:endParaRPr lang="en-IN"/>
          </a:p>
        </p:txBody>
      </p:sp>
      <p:sp>
        <p:nvSpPr>
          <p:cNvPr id="6" name="Footer Placeholder 5">
            <a:extLst>
              <a:ext uri="{FF2B5EF4-FFF2-40B4-BE49-F238E27FC236}">
                <a16:creationId xmlns:a16="http://schemas.microsoft.com/office/drawing/2014/main" id="{36C7714D-BA50-3F6F-BF8B-C54675A702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9FEEF5-86D0-EB01-100A-7E88F315608D}"/>
              </a:ext>
            </a:extLst>
          </p:cNvPr>
          <p:cNvSpPr>
            <a:spLocks noGrp="1"/>
          </p:cNvSpPr>
          <p:nvPr>
            <p:ph type="sldNum" sz="quarter" idx="12"/>
          </p:nvPr>
        </p:nvSpPr>
        <p:spPr/>
        <p:txBody>
          <a:bodyPr/>
          <a:lstStyle/>
          <a:p>
            <a:fld id="{6AD859D4-9D61-419F-8ED9-9D17DCBD5185}" type="slidenum">
              <a:rPr lang="en-IN" smtClean="0"/>
              <a:t>‹#›</a:t>
            </a:fld>
            <a:endParaRPr lang="en-IN"/>
          </a:p>
        </p:txBody>
      </p:sp>
    </p:spTree>
    <p:extLst>
      <p:ext uri="{BB962C8B-B14F-4D97-AF65-F5344CB8AC3E}">
        <p14:creationId xmlns:p14="http://schemas.microsoft.com/office/powerpoint/2010/main" val="3569768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7878B-6017-E797-D8B9-4060ADE77E9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6E0249-4163-1EF1-1A50-7CD942B9FA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06C900-B1E2-E17F-CA33-4377317586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7222FB7-4409-30BB-A115-20FC3985FB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E933BD-4304-BC2E-4D52-4CC7E14115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8C97AB7-2810-F92E-F047-B60A9096591F}"/>
              </a:ext>
            </a:extLst>
          </p:cNvPr>
          <p:cNvSpPr>
            <a:spLocks noGrp="1"/>
          </p:cNvSpPr>
          <p:nvPr>
            <p:ph type="dt" sz="half" idx="10"/>
          </p:nvPr>
        </p:nvSpPr>
        <p:spPr/>
        <p:txBody>
          <a:bodyPr/>
          <a:lstStyle/>
          <a:p>
            <a:fld id="{DB3472D1-E4CE-4F06-847B-D8E4BD90E825}" type="datetimeFigureOut">
              <a:rPr lang="en-IN" smtClean="0"/>
              <a:t>02-10-2025</a:t>
            </a:fld>
            <a:endParaRPr lang="en-IN"/>
          </a:p>
        </p:txBody>
      </p:sp>
      <p:sp>
        <p:nvSpPr>
          <p:cNvPr id="8" name="Footer Placeholder 7">
            <a:extLst>
              <a:ext uri="{FF2B5EF4-FFF2-40B4-BE49-F238E27FC236}">
                <a16:creationId xmlns:a16="http://schemas.microsoft.com/office/drawing/2014/main" id="{759861F3-AF86-5E7E-09CB-559D752BC4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246D40-704B-6493-97FB-75B8A8AAC28B}"/>
              </a:ext>
            </a:extLst>
          </p:cNvPr>
          <p:cNvSpPr>
            <a:spLocks noGrp="1"/>
          </p:cNvSpPr>
          <p:nvPr>
            <p:ph type="sldNum" sz="quarter" idx="12"/>
          </p:nvPr>
        </p:nvSpPr>
        <p:spPr/>
        <p:txBody>
          <a:bodyPr/>
          <a:lstStyle/>
          <a:p>
            <a:fld id="{6AD859D4-9D61-419F-8ED9-9D17DCBD5185}" type="slidenum">
              <a:rPr lang="en-IN" smtClean="0"/>
              <a:t>‹#›</a:t>
            </a:fld>
            <a:endParaRPr lang="en-IN"/>
          </a:p>
        </p:txBody>
      </p:sp>
    </p:spTree>
    <p:extLst>
      <p:ext uri="{BB962C8B-B14F-4D97-AF65-F5344CB8AC3E}">
        <p14:creationId xmlns:p14="http://schemas.microsoft.com/office/powerpoint/2010/main" val="1262680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85FAA-781C-5C5F-17A9-67A445EDD34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D2050FA-161D-EE7C-854C-AC6097F2194C}"/>
              </a:ext>
            </a:extLst>
          </p:cNvPr>
          <p:cNvSpPr>
            <a:spLocks noGrp="1"/>
          </p:cNvSpPr>
          <p:nvPr>
            <p:ph type="dt" sz="half" idx="10"/>
          </p:nvPr>
        </p:nvSpPr>
        <p:spPr/>
        <p:txBody>
          <a:bodyPr/>
          <a:lstStyle/>
          <a:p>
            <a:fld id="{DB3472D1-E4CE-4F06-847B-D8E4BD90E825}" type="datetimeFigureOut">
              <a:rPr lang="en-IN" smtClean="0"/>
              <a:t>02-10-2025</a:t>
            </a:fld>
            <a:endParaRPr lang="en-IN"/>
          </a:p>
        </p:txBody>
      </p:sp>
      <p:sp>
        <p:nvSpPr>
          <p:cNvPr id="4" name="Footer Placeholder 3">
            <a:extLst>
              <a:ext uri="{FF2B5EF4-FFF2-40B4-BE49-F238E27FC236}">
                <a16:creationId xmlns:a16="http://schemas.microsoft.com/office/drawing/2014/main" id="{EB1AD630-5493-70B9-4035-10E94EFD551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32D6D69-D4DC-8179-BB1A-0880097B3AD9}"/>
              </a:ext>
            </a:extLst>
          </p:cNvPr>
          <p:cNvSpPr>
            <a:spLocks noGrp="1"/>
          </p:cNvSpPr>
          <p:nvPr>
            <p:ph type="sldNum" sz="quarter" idx="12"/>
          </p:nvPr>
        </p:nvSpPr>
        <p:spPr/>
        <p:txBody>
          <a:bodyPr/>
          <a:lstStyle/>
          <a:p>
            <a:fld id="{6AD859D4-9D61-419F-8ED9-9D17DCBD5185}" type="slidenum">
              <a:rPr lang="en-IN" smtClean="0"/>
              <a:t>‹#›</a:t>
            </a:fld>
            <a:endParaRPr lang="en-IN"/>
          </a:p>
        </p:txBody>
      </p:sp>
    </p:spTree>
    <p:extLst>
      <p:ext uri="{BB962C8B-B14F-4D97-AF65-F5344CB8AC3E}">
        <p14:creationId xmlns:p14="http://schemas.microsoft.com/office/powerpoint/2010/main" val="1183201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093271-2D54-AB2D-B3B9-45533752662A}"/>
              </a:ext>
            </a:extLst>
          </p:cNvPr>
          <p:cNvSpPr>
            <a:spLocks noGrp="1"/>
          </p:cNvSpPr>
          <p:nvPr>
            <p:ph type="dt" sz="half" idx="10"/>
          </p:nvPr>
        </p:nvSpPr>
        <p:spPr/>
        <p:txBody>
          <a:bodyPr/>
          <a:lstStyle/>
          <a:p>
            <a:fld id="{DB3472D1-E4CE-4F06-847B-D8E4BD90E825}" type="datetimeFigureOut">
              <a:rPr lang="en-IN" smtClean="0"/>
              <a:t>02-10-2025</a:t>
            </a:fld>
            <a:endParaRPr lang="en-IN"/>
          </a:p>
        </p:txBody>
      </p:sp>
      <p:sp>
        <p:nvSpPr>
          <p:cNvPr id="3" name="Footer Placeholder 2">
            <a:extLst>
              <a:ext uri="{FF2B5EF4-FFF2-40B4-BE49-F238E27FC236}">
                <a16:creationId xmlns:a16="http://schemas.microsoft.com/office/drawing/2014/main" id="{D0F32A64-6671-258A-FF7E-64DB4C01BF1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BCED436-BE29-64CC-5116-5D051AA7F556}"/>
              </a:ext>
            </a:extLst>
          </p:cNvPr>
          <p:cNvSpPr>
            <a:spLocks noGrp="1"/>
          </p:cNvSpPr>
          <p:nvPr>
            <p:ph type="sldNum" sz="quarter" idx="12"/>
          </p:nvPr>
        </p:nvSpPr>
        <p:spPr/>
        <p:txBody>
          <a:bodyPr/>
          <a:lstStyle/>
          <a:p>
            <a:fld id="{6AD859D4-9D61-419F-8ED9-9D17DCBD5185}" type="slidenum">
              <a:rPr lang="en-IN" smtClean="0"/>
              <a:t>‹#›</a:t>
            </a:fld>
            <a:endParaRPr lang="en-IN"/>
          </a:p>
        </p:txBody>
      </p:sp>
    </p:spTree>
    <p:extLst>
      <p:ext uri="{BB962C8B-B14F-4D97-AF65-F5344CB8AC3E}">
        <p14:creationId xmlns:p14="http://schemas.microsoft.com/office/powerpoint/2010/main" val="2361496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C6C82-DF9D-51C7-1D14-0855F4E5B8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7C533CB-8B09-D00D-BA75-F6A2DB0B0E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5BFA0A2-8355-E27E-2790-EA6760DE68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6E3DBE-25FB-619D-1C10-8527E81CC847}"/>
              </a:ext>
            </a:extLst>
          </p:cNvPr>
          <p:cNvSpPr>
            <a:spLocks noGrp="1"/>
          </p:cNvSpPr>
          <p:nvPr>
            <p:ph type="dt" sz="half" idx="10"/>
          </p:nvPr>
        </p:nvSpPr>
        <p:spPr/>
        <p:txBody>
          <a:bodyPr/>
          <a:lstStyle/>
          <a:p>
            <a:fld id="{DB3472D1-E4CE-4F06-847B-D8E4BD90E825}" type="datetimeFigureOut">
              <a:rPr lang="en-IN" smtClean="0"/>
              <a:t>02-10-2025</a:t>
            </a:fld>
            <a:endParaRPr lang="en-IN"/>
          </a:p>
        </p:txBody>
      </p:sp>
      <p:sp>
        <p:nvSpPr>
          <p:cNvPr id="6" name="Footer Placeholder 5">
            <a:extLst>
              <a:ext uri="{FF2B5EF4-FFF2-40B4-BE49-F238E27FC236}">
                <a16:creationId xmlns:a16="http://schemas.microsoft.com/office/drawing/2014/main" id="{81F9B96A-984F-9D71-041D-C1DC27470E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D93455-C147-C22C-FED3-1F59762DF7C4}"/>
              </a:ext>
            </a:extLst>
          </p:cNvPr>
          <p:cNvSpPr>
            <a:spLocks noGrp="1"/>
          </p:cNvSpPr>
          <p:nvPr>
            <p:ph type="sldNum" sz="quarter" idx="12"/>
          </p:nvPr>
        </p:nvSpPr>
        <p:spPr/>
        <p:txBody>
          <a:bodyPr/>
          <a:lstStyle/>
          <a:p>
            <a:fld id="{6AD859D4-9D61-419F-8ED9-9D17DCBD5185}" type="slidenum">
              <a:rPr lang="en-IN" smtClean="0"/>
              <a:t>‹#›</a:t>
            </a:fld>
            <a:endParaRPr lang="en-IN"/>
          </a:p>
        </p:txBody>
      </p:sp>
    </p:spTree>
    <p:extLst>
      <p:ext uri="{BB962C8B-B14F-4D97-AF65-F5344CB8AC3E}">
        <p14:creationId xmlns:p14="http://schemas.microsoft.com/office/powerpoint/2010/main" val="1981830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48E5F-099D-57C3-79C1-925C812EC1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A547879-9FE6-F3C4-401E-17AE8F8349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41557CC-AA43-EEB9-32DC-27329626DC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7D3B38-B5DD-FE65-719B-19ECC3F687A1}"/>
              </a:ext>
            </a:extLst>
          </p:cNvPr>
          <p:cNvSpPr>
            <a:spLocks noGrp="1"/>
          </p:cNvSpPr>
          <p:nvPr>
            <p:ph type="dt" sz="half" idx="10"/>
          </p:nvPr>
        </p:nvSpPr>
        <p:spPr/>
        <p:txBody>
          <a:bodyPr/>
          <a:lstStyle/>
          <a:p>
            <a:fld id="{DB3472D1-E4CE-4F06-847B-D8E4BD90E825}" type="datetimeFigureOut">
              <a:rPr lang="en-IN" smtClean="0"/>
              <a:t>02-10-2025</a:t>
            </a:fld>
            <a:endParaRPr lang="en-IN"/>
          </a:p>
        </p:txBody>
      </p:sp>
      <p:sp>
        <p:nvSpPr>
          <p:cNvPr id="6" name="Footer Placeholder 5">
            <a:extLst>
              <a:ext uri="{FF2B5EF4-FFF2-40B4-BE49-F238E27FC236}">
                <a16:creationId xmlns:a16="http://schemas.microsoft.com/office/drawing/2014/main" id="{14B4B72A-BF7A-C4F9-D966-38BF141992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53106E-2FD0-B607-ACA9-CD9677E718D9}"/>
              </a:ext>
            </a:extLst>
          </p:cNvPr>
          <p:cNvSpPr>
            <a:spLocks noGrp="1"/>
          </p:cNvSpPr>
          <p:nvPr>
            <p:ph type="sldNum" sz="quarter" idx="12"/>
          </p:nvPr>
        </p:nvSpPr>
        <p:spPr/>
        <p:txBody>
          <a:bodyPr/>
          <a:lstStyle/>
          <a:p>
            <a:fld id="{6AD859D4-9D61-419F-8ED9-9D17DCBD5185}" type="slidenum">
              <a:rPr lang="en-IN" smtClean="0"/>
              <a:t>‹#›</a:t>
            </a:fld>
            <a:endParaRPr lang="en-IN"/>
          </a:p>
        </p:txBody>
      </p:sp>
    </p:spTree>
    <p:extLst>
      <p:ext uri="{BB962C8B-B14F-4D97-AF65-F5344CB8AC3E}">
        <p14:creationId xmlns:p14="http://schemas.microsoft.com/office/powerpoint/2010/main" val="3725630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A5C54-4E02-D656-518F-3CE1C4363A1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37A3EE-F2E9-829C-C2D3-294DEFD3F7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E06DFA-E186-B749-F570-3FC7CBF0D5BF}"/>
              </a:ext>
            </a:extLst>
          </p:cNvPr>
          <p:cNvSpPr>
            <a:spLocks noGrp="1"/>
          </p:cNvSpPr>
          <p:nvPr>
            <p:ph type="dt" sz="half" idx="10"/>
          </p:nvPr>
        </p:nvSpPr>
        <p:spPr/>
        <p:txBody>
          <a:bodyPr/>
          <a:lstStyle/>
          <a:p>
            <a:fld id="{DB3472D1-E4CE-4F06-847B-D8E4BD90E825}" type="datetimeFigureOut">
              <a:rPr lang="en-IN" smtClean="0"/>
              <a:t>02-10-2025</a:t>
            </a:fld>
            <a:endParaRPr lang="en-IN"/>
          </a:p>
        </p:txBody>
      </p:sp>
      <p:sp>
        <p:nvSpPr>
          <p:cNvPr id="5" name="Footer Placeholder 4">
            <a:extLst>
              <a:ext uri="{FF2B5EF4-FFF2-40B4-BE49-F238E27FC236}">
                <a16:creationId xmlns:a16="http://schemas.microsoft.com/office/drawing/2014/main" id="{51F98D3A-AB70-24DA-B0C5-39292A01D8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007BC0-97E7-A04E-4302-17C4A07D17C4}"/>
              </a:ext>
            </a:extLst>
          </p:cNvPr>
          <p:cNvSpPr>
            <a:spLocks noGrp="1"/>
          </p:cNvSpPr>
          <p:nvPr>
            <p:ph type="sldNum" sz="quarter" idx="12"/>
          </p:nvPr>
        </p:nvSpPr>
        <p:spPr/>
        <p:txBody>
          <a:bodyPr/>
          <a:lstStyle/>
          <a:p>
            <a:fld id="{6AD859D4-9D61-419F-8ED9-9D17DCBD5185}" type="slidenum">
              <a:rPr lang="en-IN" smtClean="0"/>
              <a:t>‹#›</a:t>
            </a:fld>
            <a:endParaRPr lang="en-IN"/>
          </a:p>
        </p:txBody>
      </p:sp>
    </p:spTree>
    <p:extLst>
      <p:ext uri="{BB962C8B-B14F-4D97-AF65-F5344CB8AC3E}">
        <p14:creationId xmlns:p14="http://schemas.microsoft.com/office/powerpoint/2010/main" val="1725484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8ED3CD-F16D-9631-076A-41562D3CC0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458B0A-BF4C-F4F5-F61D-3F68DE9EB1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070582-D284-5C81-CEC7-3640A149AA73}"/>
              </a:ext>
            </a:extLst>
          </p:cNvPr>
          <p:cNvSpPr>
            <a:spLocks noGrp="1"/>
          </p:cNvSpPr>
          <p:nvPr>
            <p:ph type="dt" sz="half" idx="10"/>
          </p:nvPr>
        </p:nvSpPr>
        <p:spPr/>
        <p:txBody>
          <a:bodyPr/>
          <a:lstStyle/>
          <a:p>
            <a:fld id="{DB3472D1-E4CE-4F06-847B-D8E4BD90E825}" type="datetimeFigureOut">
              <a:rPr lang="en-IN" smtClean="0"/>
              <a:t>02-10-2025</a:t>
            </a:fld>
            <a:endParaRPr lang="en-IN"/>
          </a:p>
        </p:txBody>
      </p:sp>
      <p:sp>
        <p:nvSpPr>
          <p:cNvPr id="5" name="Footer Placeholder 4">
            <a:extLst>
              <a:ext uri="{FF2B5EF4-FFF2-40B4-BE49-F238E27FC236}">
                <a16:creationId xmlns:a16="http://schemas.microsoft.com/office/drawing/2014/main" id="{33A4F7E0-C5CD-8449-78C6-6ADD439367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A99386-12B0-AA24-F2A3-502A6E3671F0}"/>
              </a:ext>
            </a:extLst>
          </p:cNvPr>
          <p:cNvSpPr>
            <a:spLocks noGrp="1"/>
          </p:cNvSpPr>
          <p:nvPr>
            <p:ph type="sldNum" sz="quarter" idx="12"/>
          </p:nvPr>
        </p:nvSpPr>
        <p:spPr/>
        <p:txBody>
          <a:bodyPr/>
          <a:lstStyle/>
          <a:p>
            <a:fld id="{6AD859D4-9D61-419F-8ED9-9D17DCBD5185}" type="slidenum">
              <a:rPr lang="en-IN" smtClean="0"/>
              <a:t>‹#›</a:t>
            </a:fld>
            <a:endParaRPr lang="en-IN"/>
          </a:p>
        </p:txBody>
      </p:sp>
    </p:spTree>
    <p:extLst>
      <p:ext uri="{BB962C8B-B14F-4D97-AF65-F5344CB8AC3E}">
        <p14:creationId xmlns:p14="http://schemas.microsoft.com/office/powerpoint/2010/main" val="2184492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24F01A-EF05-619E-7C98-8041D3F2C4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B01E12-C69D-98B1-DA81-87F370C56E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5ED2BA-1A92-E587-8261-E260019AFD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3472D1-E4CE-4F06-847B-D8E4BD90E825}" type="datetimeFigureOut">
              <a:rPr lang="en-IN" smtClean="0"/>
              <a:t>02-10-2025</a:t>
            </a:fld>
            <a:endParaRPr lang="en-IN"/>
          </a:p>
        </p:txBody>
      </p:sp>
      <p:sp>
        <p:nvSpPr>
          <p:cNvPr id="5" name="Footer Placeholder 4">
            <a:extLst>
              <a:ext uri="{FF2B5EF4-FFF2-40B4-BE49-F238E27FC236}">
                <a16:creationId xmlns:a16="http://schemas.microsoft.com/office/drawing/2014/main" id="{5385E557-7CE8-8E61-3173-C9D0E8EC81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0454CA8-5FCA-6B66-3778-A1126FA421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D859D4-9D61-419F-8ED9-9D17DCBD5185}" type="slidenum">
              <a:rPr lang="en-IN" smtClean="0"/>
              <a:t>‹#›</a:t>
            </a:fld>
            <a:endParaRPr lang="en-IN"/>
          </a:p>
        </p:txBody>
      </p:sp>
    </p:spTree>
    <p:extLst>
      <p:ext uri="{BB962C8B-B14F-4D97-AF65-F5344CB8AC3E}">
        <p14:creationId xmlns:p14="http://schemas.microsoft.com/office/powerpoint/2010/main" val="72710793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1CB0A-C1B3-6ACB-D720-297E6FEB076F}"/>
              </a:ext>
            </a:extLst>
          </p:cNvPr>
          <p:cNvSpPr>
            <a:spLocks noGrp="1"/>
          </p:cNvSpPr>
          <p:nvPr>
            <p:ph type="ctrTitle"/>
          </p:nvPr>
        </p:nvSpPr>
        <p:spPr/>
        <p:txBody>
          <a:bodyPr/>
          <a:lstStyle/>
          <a:p>
            <a:r>
              <a:rPr lang="en-IN" dirty="0"/>
              <a:t>Social Media Analysis</a:t>
            </a:r>
          </a:p>
        </p:txBody>
      </p:sp>
      <p:sp>
        <p:nvSpPr>
          <p:cNvPr id="3" name="Subtitle 2">
            <a:extLst>
              <a:ext uri="{FF2B5EF4-FFF2-40B4-BE49-F238E27FC236}">
                <a16:creationId xmlns:a16="http://schemas.microsoft.com/office/drawing/2014/main" id="{B320B009-C4A3-9701-A29C-06C9DB780BED}"/>
              </a:ext>
            </a:extLst>
          </p:cNvPr>
          <p:cNvSpPr>
            <a:spLocks noGrp="1"/>
          </p:cNvSpPr>
          <p:nvPr>
            <p:ph type="subTitle" idx="1"/>
          </p:nvPr>
        </p:nvSpPr>
        <p:spPr/>
        <p:txBody>
          <a:bodyPr>
            <a:normAutofit/>
          </a:bodyPr>
          <a:lstStyle/>
          <a:p>
            <a:r>
              <a:rPr lang="en-IN" sz="4000" dirty="0"/>
              <a:t>Mohit Yadav</a:t>
            </a:r>
          </a:p>
          <a:p>
            <a:r>
              <a:rPr lang="en-IN" dirty="0"/>
              <a:t>1-10-2025</a:t>
            </a:r>
          </a:p>
        </p:txBody>
      </p:sp>
    </p:spTree>
    <p:extLst>
      <p:ext uri="{BB962C8B-B14F-4D97-AF65-F5344CB8AC3E}">
        <p14:creationId xmlns:p14="http://schemas.microsoft.com/office/powerpoint/2010/main" val="345016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1364D-DE98-1A85-E1BB-6EB9D2668214}"/>
              </a:ext>
            </a:extLst>
          </p:cNvPr>
          <p:cNvSpPr>
            <a:spLocks noGrp="1"/>
          </p:cNvSpPr>
          <p:nvPr>
            <p:ph type="title"/>
          </p:nvPr>
        </p:nvSpPr>
        <p:spPr>
          <a:xfrm>
            <a:off x="838200" y="1"/>
            <a:ext cx="10515600" cy="1022554"/>
          </a:xfrm>
        </p:spPr>
        <p:txBody>
          <a:bodyPr>
            <a:normAutofit/>
          </a:bodyPr>
          <a:lstStyle/>
          <a:p>
            <a:pPr algn="ctr"/>
            <a:r>
              <a:rPr lang="en-IN" sz="3200" dirty="0">
                <a:latin typeface="+mn-lt"/>
              </a:rPr>
              <a:t>Problem Statement</a:t>
            </a:r>
          </a:p>
        </p:txBody>
      </p:sp>
      <p:sp>
        <p:nvSpPr>
          <p:cNvPr id="3" name="Content Placeholder 2">
            <a:extLst>
              <a:ext uri="{FF2B5EF4-FFF2-40B4-BE49-F238E27FC236}">
                <a16:creationId xmlns:a16="http://schemas.microsoft.com/office/drawing/2014/main" id="{30C8BF38-AF2B-5F49-B222-C38440EB0DA6}"/>
              </a:ext>
            </a:extLst>
          </p:cNvPr>
          <p:cNvSpPr>
            <a:spLocks noGrp="1"/>
          </p:cNvSpPr>
          <p:nvPr>
            <p:ph idx="1"/>
          </p:nvPr>
        </p:nvSpPr>
        <p:spPr/>
        <p:txBody>
          <a:bodyPr>
            <a:normAutofit/>
          </a:bodyPr>
          <a:lstStyle/>
          <a:p>
            <a:r>
              <a:rPr lang="en-US" sz="1800" dirty="0"/>
              <a:t>You are hired as a data analyst at Meta and asked to collaborate with Marketing team. Marketing teams wants to leverage Instagram's user data to develop targeted marketing strategies that will increase user engagement, retention, and acquisition. Provide insights and recommendations to address the following objectives</a:t>
            </a:r>
            <a:endParaRPr lang="en-IN" sz="1800" dirty="0"/>
          </a:p>
        </p:txBody>
      </p:sp>
    </p:spTree>
    <p:extLst>
      <p:ext uri="{BB962C8B-B14F-4D97-AF65-F5344CB8AC3E}">
        <p14:creationId xmlns:p14="http://schemas.microsoft.com/office/powerpoint/2010/main" val="1620659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07825-38F3-8CA9-9C35-1B3BE3BFB071}"/>
              </a:ext>
            </a:extLst>
          </p:cNvPr>
          <p:cNvSpPr>
            <a:spLocks noGrp="1"/>
          </p:cNvSpPr>
          <p:nvPr>
            <p:ph type="title"/>
          </p:nvPr>
        </p:nvSpPr>
        <p:spPr>
          <a:xfrm>
            <a:off x="838200" y="1"/>
            <a:ext cx="10515600" cy="1140541"/>
          </a:xfrm>
        </p:spPr>
        <p:txBody>
          <a:bodyPr>
            <a:normAutofit/>
          </a:bodyPr>
          <a:lstStyle/>
          <a:p>
            <a:pPr algn="ctr"/>
            <a:r>
              <a:rPr lang="en-IN" sz="3200" dirty="0">
                <a:latin typeface="+mn-lt"/>
              </a:rPr>
              <a:t>Data Overview</a:t>
            </a:r>
          </a:p>
        </p:txBody>
      </p:sp>
      <p:sp>
        <p:nvSpPr>
          <p:cNvPr id="3" name="Content Placeholder 2">
            <a:extLst>
              <a:ext uri="{FF2B5EF4-FFF2-40B4-BE49-F238E27FC236}">
                <a16:creationId xmlns:a16="http://schemas.microsoft.com/office/drawing/2014/main" id="{FBAB2D40-8750-27F6-62CD-3BF617EC1F5D}"/>
              </a:ext>
            </a:extLst>
          </p:cNvPr>
          <p:cNvSpPr>
            <a:spLocks noGrp="1"/>
          </p:cNvSpPr>
          <p:nvPr>
            <p:ph idx="1"/>
          </p:nvPr>
        </p:nvSpPr>
        <p:spPr>
          <a:xfrm>
            <a:off x="0" y="1825625"/>
            <a:ext cx="11353800" cy="4351338"/>
          </a:xfrm>
        </p:spPr>
        <p:txBody>
          <a:bodyPr>
            <a:normAutofit/>
          </a:bodyPr>
          <a:lstStyle/>
          <a:p>
            <a:pPr fontAlgn="base"/>
            <a:r>
              <a:rPr lang="en-US" sz="1800" dirty="0" err="1"/>
              <a:t>comments_id</a:t>
            </a:r>
            <a:r>
              <a:rPr lang="en-US" sz="1800" dirty="0"/>
              <a:t> : unique identifier for each comment</a:t>
            </a:r>
          </a:p>
          <a:p>
            <a:pPr fontAlgn="base"/>
            <a:r>
              <a:rPr lang="en-US" sz="1800" dirty="0" err="1"/>
              <a:t>comment_text</a:t>
            </a:r>
            <a:r>
              <a:rPr lang="en-US" sz="1800" dirty="0"/>
              <a:t> : text content of a given comment</a:t>
            </a:r>
          </a:p>
          <a:p>
            <a:pPr fontAlgn="base"/>
            <a:r>
              <a:rPr lang="en-US" sz="1800" dirty="0" err="1"/>
              <a:t>user_id</a:t>
            </a:r>
            <a:r>
              <a:rPr lang="en-US" sz="1800" dirty="0"/>
              <a:t> : unique identifier for each user</a:t>
            </a:r>
          </a:p>
          <a:p>
            <a:pPr fontAlgn="base"/>
            <a:r>
              <a:rPr lang="en-US" sz="1800" dirty="0" err="1"/>
              <a:t>photo_id</a:t>
            </a:r>
            <a:r>
              <a:rPr lang="en-US" sz="1800" dirty="0"/>
              <a:t> : unique identifier for each photo</a:t>
            </a:r>
          </a:p>
          <a:p>
            <a:pPr fontAlgn="base"/>
            <a:r>
              <a:rPr lang="en-US" sz="1800" dirty="0" err="1"/>
              <a:t>created_at</a:t>
            </a:r>
            <a:r>
              <a:rPr lang="en-US" sz="1800" dirty="0"/>
              <a:t> : date of interaction in the form like, photos, tags</a:t>
            </a:r>
          </a:p>
          <a:p>
            <a:pPr fontAlgn="base"/>
            <a:r>
              <a:rPr lang="en-US" sz="1800" dirty="0" err="1"/>
              <a:t>follower_id</a:t>
            </a:r>
            <a:r>
              <a:rPr lang="en-US" sz="1800" dirty="0"/>
              <a:t> : </a:t>
            </a:r>
            <a:r>
              <a:rPr lang="en-US" sz="1800" dirty="0" err="1"/>
              <a:t>user_id</a:t>
            </a:r>
            <a:r>
              <a:rPr lang="en-US" sz="1800" dirty="0"/>
              <a:t> of the follower for a certain user</a:t>
            </a:r>
          </a:p>
          <a:p>
            <a:pPr fontAlgn="base"/>
            <a:r>
              <a:rPr lang="en-US" sz="1800" dirty="0" err="1"/>
              <a:t>followee_id</a:t>
            </a:r>
            <a:r>
              <a:rPr lang="en-US" sz="1800" dirty="0"/>
              <a:t> : </a:t>
            </a:r>
            <a:r>
              <a:rPr lang="en-US" sz="1800" dirty="0" err="1"/>
              <a:t>user_id</a:t>
            </a:r>
            <a:r>
              <a:rPr lang="en-US" sz="1800" dirty="0"/>
              <a:t> of </a:t>
            </a:r>
            <a:r>
              <a:rPr lang="en-US" sz="1800" dirty="0" err="1"/>
              <a:t>followee</a:t>
            </a:r>
            <a:r>
              <a:rPr lang="en-US" sz="1800" dirty="0"/>
              <a:t> for a certain user</a:t>
            </a:r>
          </a:p>
          <a:p>
            <a:pPr fontAlgn="base"/>
            <a:r>
              <a:rPr lang="en-US" sz="1800" dirty="0" err="1"/>
              <a:t>tag_id</a:t>
            </a:r>
            <a:r>
              <a:rPr lang="en-US" sz="1800" dirty="0"/>
              <a:t> : unique identifier for each tag</a:t>
            </a:r>
          </a:p>
          <a:p>
            <a:pPr fontAlgn="base"/>
            <a:r>
              <a:rPr lang="en-US" sz="1800" dirty="0" err="1"/>
              <a:t>image_url</a:t>
            </a:r>
            <a:r>
              <a:rPr lang="en-US" sz="1800" dirty="0"/>
              <a:t> : link to the image posted on the platform</a:t>
            </a:r>
          </a:p>
          <a:p>
            <a:pPr fontAlgn="base"/>
            <a:r>
              <a:rPr lang="en-US" sz="1800" dirty="0"/>
              <a:t>username : username chosen by the user</a:t>
            </a:r>
          </a:p>
          <a:p>
            <a:endParaRPr lang="en-IN" dirty="0"/>
          </a:p>
        </p:txBody>
      </p:sp>
    </p:spTree>
    <p:extLst>
      <p:ext uri="{BB962C8B-B14F-4D97-AF65-F5344CB8AC3E}">
        <p14:creationId xmlns:p14="http://schemas.microsoft.com/office/powerpoint/2010/main" val="4150172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56A8-DF73-2826-D9F7-C7C8E9968D3E}"/>
              </a:ext>
            </a:extLst>
          </p:cNvPr>
          <p:cNvSpPr>
            <a:spLocks noGrp="1"/>
          </p:cNvSpPr>
          <p:nvPr>
            <p:ph type="title"/>
          </p:nvPr>
        </p:nvSpPr>
        <p:spPr>
          <a:xfrm>
            <a:off x="838200" y="1"/>
            <a:ext cx="10515600" cy="953728"/>
          </a:xfrm>
        </p:spPr>
        <p:txBody>
          <a:bodyPr>
            <a:normAutofit/>
          </a:bodyPr>
          <a:lstStyle/>
          <a:p>
            <a:pPr algn="ctr"/>
            <a:r>
              <a:rPr lang="en-IN" sz="3200" dirty="0">
                <a:latin typeface="+mn-lt"/>
              </a:rPr>
              <a:t>Database Schema</a:t>
            </a:r>
          </a:p>
        </p:txBody>
      </p:sp>
      <p:pic>
        <p:nvPicPr>
          <p:cNvPr id="1026" name="Picture 2">
            <a:extLst>
              <a:ext uri="{FF2B5EF4-FFF2-40B4-BE49-F238E27FC236}">
                <a16:creationId xmlns:a16="http://schemas.microsoft.com/office/drawing/2014/main" id="{45B47E40-6977-3196-40C7-79B388DCB55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008671" y="953729"/>
            <a:ext cx="6027174" cy="5223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2360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8A0F1BA-C1D0-251E-69C8-6E467A80FB57}"/>
              </a:ext>
            </a:extLst>
          </p:cNvPr>
          <p:cNvSpPr>
            <a:spLocks noChangeArrowheads="1"/>
          </p:cNvSpPr>
          <p:nvPr/>
        </p:nvSpPr>
        <p:spPr bwMode="auto">
          <a:xfrm>
            <a:off x="0" y="5653999"/>
            <a:ext cx="1228092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Comments dominate engagement, likes strongly correlate, while photo tags remain underutilized and need promotion.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High-engagement users drive discussions, while low-activity users require targeted strategies to boost participation.</a:t>
            </a:r>
          </a:p>
        </p:txBody>
      </p:sp>
      <p:graphicFrame>
        <p:nvGraphicFramePr>
          <p:cNvPr id="7" name="Chart 6">
            <a:extLst>
              <a:ext uri="{FF2B5EF4-FFF2-40B4-BE49-F238E27FC236}">
                <a16:creationId xmlns:a16="http://schemas.microsoft.com/office/drawing/2014/main" id="{0B55A63D-E7DF-5CED-22EE-F7437950368A}"/>
              </a:ext>
            </a:extLst>
          </p:cNvPr>
          <p:cNvGraphicFramePr/>
          <p:nvPr>
            <p:extLst>
              <p:ext uri="{D42A27DB-BD31-4B8C-83A1-F6EECF244321}">
                <p14:modId xmlns:p14="http://schemas.microsoft.com/office/powerpoint/2010/main" val="3193069542"/>
              </p:ext>
            </p:extLst>
          </p:nvPr>
        </p:nvGraphicFramePr>
        <p:xfrm>
          <a:off x="0" y="1484671"/>
          <a:ext cx="12192000" cy="4100052"/>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8CBD0E4A-D481-6423-921F-23DE690E9BDF}"/>
              </a:ext>
            </a:extLst>
          </p:cNvPr>
          <p:cNvSpPr txBox="1"/>
          <p:nvPr/>
        </p:nvSpPr>
        <p:spPr>
          <a:xfrm>
            <a:off x="0" y="280671"/>
            <a:ext cx="12192000" cy="584775"/>
          </a:xfrm>
          <a:prstGeom prst="rect">
            <a:avLst/>
          </a:prstGeom>
          <a:noFill/>
        </p:spPr>
        <p:txBody>
          <a:bodyPr wrap="square">
            <a:spAutoFit/>
          </a:bodyPr>
          <a:lstStyle/>
          <a:p>
            <a:pPr algn="ctr"/>
            <a:r>
              <a:rPr lang="en" sz="3200" dirty="0"/>
              <a:t>User Engagement Analysis: Insights on Likes, Comments, and Tags</a:t>
            </a:r>
            <a:endParaRPr lang="en-IN" sz="3200" dirty="0"/>
          </a:p>
        </p:txBody>
      </p:sp>
    </p:spTree>
    <p:extLst>
      <p:ext uri="{BB962C8B-B14F-4D97-AF65-F5344CB8AC3E}">
        <p14:creationId xmlns:p14="http://schemas.microsoft.com/office/powerpoint/2010/main" val="3769096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B9B9AB-F13B-11E4-8550-40BF12D3D1B3}"/>
              </a:ext>
            </a:extLst>
          </p:cNvPr>
          <p:cNvSpPr txBox="1"/>
          <p:nvPr/>
        </p:nvSpPr>
        <p:spPr>
          <a:xfrm>
            <a:off x="0" y="150528"/>
            <a:ext cx="12192000" cy="584775"/>
          </a:xfrm>
          <a:prstGeom prst="rect">
            <a:avLst/>
          </a:prstGeom>
          <a:noFill/>
        </p:spPr>
        <p:txBody>
          <a:bodyPr wrap="square">
            <a:spAutoFit/>
          </a:bodyPr>
          <a:lstStyle/>
          <a:p>
            <a:pPr algn="ctr"/>
            <a:r>
              <a:rPr lang="en" sz="3200" dirty="0"/>
              <a:t>Trending Hashtags Analysis for Targeted Advertising Strategies</a:t>
            </a:r>
            <a:endParaRPr lang="en-IN" sz="3200" dirty="0"/>
          </a:p>
        </p:txBody>
      </p:sp>
      <p:graphicFrame>
        <p:nvGraphicFramePr>
          <p:cNvPr id="12" name="Chart 11">
            <a:extLst>
              <a:ext uri="{FF2B5EF4-FFF2-40B4-BE49-F238E27FC236}">
                <a16:creationId xmlns:a16="http://schemas.microsoft.com/office/drawing/2014/main" id="{283379F1-9793-CEF2-7CF2-6031EE51F1AC}"/>
              </a:ext>
            </a:extLst>
          </p:cNvPr>
          <p:cNvGraphicFramePr/>
          <p:nvPr>
            <p:extLst>
              <p:ext uri="{D42A27DB-BD31-4B8C-83A1-F6EECF244321}">
                <p14:modId xmlns:p14="http://schemas.microsoft.com/office/powerpoint/2010/main" val="2826841875"/>
              </p:ext>
            </p:extLst>
          </p:nvPr>
        </p:nvGraphicFramePr>
        <p:xfrm>
          <a:off x="285136" y="990045"/>
          <a:ext cx="12192000" cy="3640949"/>
        </p:xfrm>
        <a:graphic>
          <a:graphicData uri="http://schemas.openxmlformats.org/drawingml/2006/chart">
            <c:chart xmlns:c="http://schemas.openxmlformats.org/drawingml/2006/chart" xmlns:r="http://schemas.openxmlformats.org/officeDocument/2006/relationships" r:id="rId2"/>
          </a:graphicData>
        </a:graphic>
      </p:graphicFrame>
      <p:sp>
        <p:nvSpPr>
          <p:cNvPr id="16" name="Rectangle 2">
            <a:extLst>
              <a:ext uri="{FF2B5EF4-FFF2-40B4-BE49-F238E27FC236}">
                <a16:creationId xmlns:a16="http://schemas.microsoft.com/office/drawing/2014/main" id="{16CD51E7-6A20-675C-6DD4-670696299C4E}"/>
              </a:ext>
            </a:extLst>
          </p:cNvPr>
          <p:cNvSpPr>
            <a:spLocks noGrp="1" noChangeArrowheads="1"/>
          </p:cNvSpPr>
          <p:nvPr>
            <p:ph type="subTitle" idx="4294967295"/>
          </p:nvPr>
        </p:nvSpPr>
        <p:spPr bwMode="auto">
          <a:xfrm>
            <a:off x="0" y="2645825"/>
            <a:ext cx="12192000" cy="397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Diverse trending hashtags highlight varied interests, enabling targeted marketing and boosting campaign effectiveness and engagement.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Top hashtags like smile, beach, party, fun show lifestyle content drives strong user engagement.</a:t>
            </a:r>
          </a:p>
        </p:txBody>
      </p:sp>
    </p:spTree>
    <p:extLst>
      <p:ext uri="{BB962C8B-B14F-4D97-AF65-F5344CB8AC3E}">
        <p14:creationId xmlns:p14="http://schemas.microsoft.com/office/powerpoint/2010/main" val="3144605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7A7844-5FDD-68B1-83E0-16EE69F04C69}"/>
              </a:ext>
            </a:extLst>
          </p:cNvPr>
          <p:cNvSpPr txBox="1"/>
          <p:nvPr/>
        </p:nvSpPr>
        <p:spPr>
          <a:xfrm>
            <a:off x="0" y="158615"/>
            <a:ext cx="12192000" cy="584775"/>
          </a:xfrm>
          <a:prstGeom prst="rect">
            <a:avLst/>
          </a:prstGeom>
          <a:noFill/>
        </p:spPr>
        <p:txBody>
          <a:bodyPr wrap="square">
            <a:spAutoFit/>
          </a:bodyPr>
          <a:lstStyle/>
          <a:p>
            <a:pPr algn="ctr"/>
            <a:r>
              <a:rPr lang="en" sz="3200" dirty="0"/>
              <a:t>High-Engagement Hashtags: Insights for Content and Ad Strategy</a:t>
            </a:r>
            <a:endParaRPr lang="en-IN" sz="3200" dirty="0"/>
          </a:p>
        </p:txBody>
      </p:sp>
      <p:sp>
        <p:nvSpPr>
          <p:cNvPr id="5" name="TextBox 4">
            <a:extLst>
              <a:ext uri="{FF2B5EF4-FFF2-40B4-BE49-F238E27FC236}">
                <a16:creationId xmlns:a16="http://schemas.microsoft.com/office/drawing/2014/main" id="{96F214DE-1B54-2171-E597-DC749F4571E7}"/>
              </a:ext>
            </a:extLst>
          </p:cNvPr>
          <p:cNvSpPr txBox="1"/>
          <p:nvPr/>
        </p:nvSpPr>
        <p:spPr>
          <a:xfrm>
            <a:off x="0" y="5316312"/>
            <a:ext cx="12191999"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Strategic hashtag use with optimized timing, cross-promotion, and recurring content maximizes reach and discovery.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Food, beauty, and photography hashtags drive high engagement, offering strong opportunities for campaigns and influencer collaborations.</a:t>
            </a:r>
          </a:p>
        </p:txBody>
      </p:sp>
      <p:graphicFrame>
        <p:nvGraphicFramePr>
          <p:cNvPr id="8" name="Chart 7">
            <a:extLst>
              <a:ext uri="{FF2B5EF4-FFF2-40B4-BE49-F238E27FC236}">
                <a16:creationId xmlns:a16="http://schemas.microsoft.com/office/drawing/2014/main" id="{BE46BB8D-3F78-1D4E-719F-AF497FF14501}"/>
              </a:ext>
            </a:extLst>
          </p:cNvPr>
          <p:cNvGraphicFramePr/>
          <p:nvPr>
            <p:extLst>
              <p:ext uri="{D42A27DB-BD31-4B8C-83A1-F6EECF244321}">
                <p14:modId xmlns:p14="http://schemas.microsoft.com/office/powerpoint/2010/main" val="11050031"/>
              </p:ext>
            </p:extLst>
          </p:nvPr>
        </p:nvGraphicFramePr>
        <p:xfrm>
          <a:off x="0" y="1091381"/>
          <a:ext cx="12192000" cy="405089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80862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EDDBFC-F554-A9FD-38A6-128D5C43504C}"/>
              </a:ext>
            </a:extLst>
          </p:cNvPr>
          <p:cNvSpPr txBox="1"/>
          <p:nvPr/>
        </p:nvSpPr>
        <p:spPr>
          <a:xfrm>
            <a:off x="0" y="159463"/>
            <a:ext cx="12192000" cy="584775"/>
          </a:xfrm>
          <a:prstGeom prst="rect">
            <a:avLst/>
          </a:prstGeom>
          <a:noFill/>
        </p:spPr>
        <p:txBody>
          <a:bodyPr wrap="square">
            <a:spAutoFit/>
          </a:bodyPr>
          <a:lstStyle/>
          <a:p>
            <a:pPr algn="ctr"/>
            <a:r>
              <a:rPr lang="en" sz="3200" dirty="0"/>
              <a:t>Top Engaged Users: Monthly Engagement Insights &amp; Trends</a:t>
            </a:r>
            <a:endParaRPr lang="en-IN" sz="3200" dirty="0"/>
          </a:p>
        </p:txBody>
      </p:sp>
      <p:sp>
        <p:nvSpPr>
          <p:cNvPr id="4" name="Rectangle 1">
            <a:extLst>
              <a:ext uri="{FF2B5EF4-FFF2-40B4-BE49-F238E27FC236}">
                <a16:creationId xmlns:a16="http://schemas.microsoft.com/office/drawing/2014/main" id="{7F16B90C-0B8F-1B97-1207-6DF24F391E50}"/>
              </a:ext>
            </a:extLst>
          </p:cNvPr>
          <p:cNvSpPr>
            <a:spLocks noChangeArrowheads="1"/>
          </p:cNvSpPr>
          <p:nvPr/>
        </p:nvSpPr>
        <p:spPr bwMode="auto">
          <a:xfrm>
            <a:off x="0" y="5498208"/>
            <a:ext cx="1219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Engagement is calculated from likes, comments, and tags, with top users like Eveline95 driving activity.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Power users dominate engagement, presenting opportunities for influencer partnerships and growth-focused marketing strategies.</a:t>
            </a:r>
          </a:p>
        </p:txBody>
      </p:sp>
      <p:graphicFrame>
        <p:nvGraphicFramePr>
          <p:cNvPr id="10" name="Chart 9">
            <a:extLst>
              <a:ext uri="{FF2B5EF4-FFF2-40B4-BE49-F238E27FC236}">
                <a16:creationId xmlns:a16="http://schemas.microsoft.com/office/drawing/2014/main" id="{9870D752-C5A6-8118-F186-6EAF6028C2D8}"/>
              </a:ext>
            </a:extLst>
          </p:cNvPr>
          <p:cNvGraphicFramePr/>
          <p:nvPr>
            <p:extLst>
              <p:ext uri="{D42A27DB-BD31-4B8C-83A1-F6EECF244321}">
                <p14:modId xmlns:p14="http://schemas.microsoft.com/office/powerpoint/2010/main" val="4170735591"/>
              </p:ext>
            </p:extLst>
          </p:nvPr>
        </p:nvGraphicFramePr>
        <p:xfrm>
          <a:off x="0" y="719667"/>
          <a:ext cx="12192000" cy="47785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52573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DF1D710D-4772-CD8E-FA74-68DFDC97FA2E}"/>
              </a:ext>
            </a:extLst>
          </p:cNvPr>
          <p:cNvGraphicFramePr/>
          <p:nvPr>
            <p:extLst>
              <p:ext uri="{D42A27DB-BD31-4B8C-83A1-F6EECF244321}">
                <p14:modId xmlns:p14="http://schemas.microsoft.com/office/powerpoint/2010/main" val="402395853"/>
              </p:ext>
            </p:extLst>
          </p:nvPr>
        </p:nvGraphicFramePr>
        <p:xfrm>
          <a:off x="0" y="719667"/>
          <a:ext cx="12192000" cy="4245624"/>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id="{445B2CDB-A156-B7B6-4501-B85194117EB4}"/>
              </a:ext>
            </a:extLst>
          </p:cNvPr>
          <p:cNvSpPr txBox="1"/>
          <p:nvPr/>
        </p:nvSpPr>
        <p:spPr>
          <a:xfrm>
            <a:off x="-1" y="159463"/>
            <a:ext cx="12191999" cy="584775"/>
          </a:xfrm>
          <a:prstGeom prst="rect">
            <a:avLst/>
          </a:prstGeom>
          <a:noFill/>
        </p:spPr>
        <p:txBody>
          <a:bodyPr wrap="square">
            <a:spAutoFit/>
          </a:bodyPr>
          <a:lstStyle/>
          <a:p>
            <a:pPr algn="ctr"/>
            <a:r>
              <a:rPr lang="en" sz="3200" dirty="0"/>
              <a:t>Most Engaging Hashtags: Top Tags with Highest Average Likes</a:t>
            </a:r>
            <a:endParaRPr lang="en-IN" sz="3200" dirty="0"/>
          </a:p>
        </p:txBody>
      </p:sp>
      <p:sp>
        <p:nvSpPr>
          <p:cNvPr id="11" name="Rectangle 3">
            <a:extLst>
              <a:ext uri="{FF2B5EF4-FFF2-40B4-BE49-F238E27FC236}">
                <a16:creationId xmlns:a16="http://schemas.microsoft.com/office/drawing/2014/main" id="{89B7BAF1-E5F4-915A-D22F-200CAA0F62FF}"/>
              </a:ext>
            </a:extLst>
          </p:cNvPr>
          <p:cNvSpPr>
            <a:spLocks noChangeArrowheads="1"/>
          </p:cNvSpPr>
          <p:nvPr/>
        </p:nvSpPr>
        <p:spPr bwMode="auto">
          <a:xfrm>
            <a:off x="-2" y="5373780"/>
            <a:ext cx="1219200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"Dreamy," "beauty," and "stunning" lead in average likes, showing strong engagement with visually appealing content.</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Aesthetic and lifestyle hashtags dominate, offering brands and creators opportunities to boost visibility and interaction.</a:t>
            </a:r>
          </a:p>
        </p:txBody>
      </p:sp>
    </p:spTree>
    <p:extLst>
      <p:ext uri="{BB962C8B-B14F-4D97-AF65-F5344CB8AC3E}">
        <p14:creationId xmlns:p14="http://schemas.microsoft.com/office/powerpoint/2010/main" val="804047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201566-3ABB-DE55-4EF9-FDE975A3E603}"/>
              </a:ext>
            </a:extLst>
          </p:cNvPr>
          <p:cNvSpPr txBox="1"/>
          <p:nvPr/>
        </p:nvSpPr>
        <p:spPr>
          <a:xfrm>
            <a:off x="0" y="186813"/>
            <a:ext cx="12192000" cy="584775"/>
          </a:xfrm>
          <a:prstGeom prst="rect">
            <a:avLst/>
          </a:prstGeom>
          <a:noFill/>
        </p:spPr>
        <p:txBody>
          <a:bodyPr wrap="square">
            <a:spAutoFit/>
          </a:bodyPr>
          <a:lstStyle/>
          <a:p>
            <a:pPr algn="ctr"/>
            <a:r>
              <a:rPr lang="en" sz="3200" dirty="0"/>
              <a:t>Re-Engaging Inactive Users: Strategies to Boost Platform Activity</a:t>
            </a:r>
            <a:endParaRPr lang="en-IN" sz="3200" dirty="0"/>
          </a:p>
        </p:txBody>
      </p:sp>
      <p:sp>
        <p:nvSpPr>
          <p:cNvPr id="4" name="Rectangle 1">
            <a:extLst>
              <a:ext uri="{FF2B5EF4-FFF2-40B4-BE49-F238E27FC236}">
                <a16:creationId xmlns:a16="http://schemas.microsoft.com/office/drawing/2014/main" id="{00482D31-E96B-D550-A003-093B11112E0D}"/>
              </a:ext>
            </a:extLst>
          </p:cNvPr>
          <p:cNvSpPr>
            <a:spLocks noChangeArrowheads="1"/>
          </p:cNvSpPr>
          <p:nvPr/>
        </p:nvSpPr>
        <p:spPr bwMode="auto">
          <a:xfrm>
            <a:off x="0" y="5482584"/>
            <a:ext cx="121920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23% of users have zero engagement, receiving no likes or comments despite posting content.</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Personalized campaigns, ads, and incentives can re-engage inactive users, boosting overall platform activity.</a:t>
            </a:r>
          </a:p>
        </p:txBody>
      </p:sp>
      <p:graphicFrame>
        <p:nvGraphicFramePr>
          <p:cNvPr id="13" name="Chart 12">
            <a:extLst>
              <a:ext uri="{FF2B5EF4-FFF2-40B4-BE49-F238E27FC236}">
                <a16:creationId xmlns:a16="http://schemas.microsoft.com/office/drawing/2014/main" id="{6484783D-2716-AF1B-33B0-1FAC1FDA1DB2}"/>
              </a:ext>
            </a:extLst>
          </p:cNvPr>
          <p:cNvGraphicFramePr/>
          <p:nvPr>
            <p:extLst>
              <p:ext uri="{D42A27DB-BD31-4B8C-83A1-F6EECF244321}">
                <p14:modId xmlns:p14="http://schemas.microsoft.com/office/powerpoint/2010/main" val="3577322485"/>
              </p:ext>
            </p:extLst>
          </p:nvPr>
        </p:nvGraphicFramePr>
        <p:xfrm>
          <a:off x="1825521" y="1048519"/>
          <a:ext cx="7672439" cy="415713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78955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544048-BD4A-1EBF-AF80-3910F66114B0}"/>
              </a:ext>
            </a:extLst>
          </p:cNvPr>
          <p:cNvSpPr txBox="1"/>
          <p:nvPr/>
        </p:nvSpPr>
        <p:spPr>
          <a:xfrm>
            <a:off x="0" y="138951"/>
            <a:ext cx="12192000" cy="1077218"/>
          </a:xfrm>
          <a:prstGeom prst="rect">
            <a:avLst/>
          </a:prstGeom>
          <a:noFill/>
        </p:spPr>
        <p:txBody>
          <a:bodyPr wrap="square">
            <a:spAutoFit/>
          </a:bodyPr>
          <a:lstStyle/>
          <a:p>
            <a:pPr algn="ctr"/>
            <a:r>
              <a:rPr lang="en" sz="3200" dirty="0"/>
              <a:t>User Segmentation for Targeted Marketing and Personalized Engagement</a:t>
            </a:r>
            <a:endParaRPr lang="en-IN" sz="3200" dirty="0"/>
          </a:p>
        </p:txBody>
      </p:sp>
      <p:sp>
        <p:nvSpPr>
          <p:cNvPr id="5" name="TextBox 4">
            <a:extLst>
              <a:ext uri="{FF2B5EF4-FFF2-40B4-BE49-F238E27FC236}">
                <a16:creationId xmlns:a16="http://schemas.microsoft.com/office/drawing/2014/main" id="{2BEB71BE-8485-8A9B-3615-CCEA9A3E194C}"/>
              </a:ext>
            </a:extLst>
          </p:cNvPr>
          <p:cNvSpPr txBox="1"/>
          <p:nvPr/>
        </p:nvSpPr>
        <p:spPr>
          <a:xfrm>
            <a:off x="0" y="5477867"/>
            <a:ext cx="12236245" cy="369332"/>
          </a:xfrm>
          <a:prstGeom prst="rect">
            <a:avLst/>
          </a:prstGeom>
          <a:noFill/>
        </p:spPr>
        <p:txBody>
          <a:bodyPr wrap="square">
            <a:spAutoFit/>
          </a:bodyPr>
          <a:lstStyle/>
          <a:p>
            <a:pPr marL="285750" indent="-285750">
              <a:buFont typeface="Arial" panose="020B0604020202020204" pitchFamily="34" charset="0"/>
              <a:buChar char="•"/>
            </a:pPr>
            <a:r>
              <a:rPr lang="en-US" dirty="0"/>
              <a:t>User segmentation: 30% high, 34% medium, and 36% low engagement users needing re-engagement strategies.</a:t>
            </a:r>
            <a:endParaRPr lang="en-IN" dirty="0"/>
          </a:p>
        </p:txBody>
      </p:sp>
      <p:sp>
        <p:nvSpPr>
          <p:cNvPr id="7" name="TextBox 6">
            <a:extLst>
              <a:ext uri="{FF2B5EF4-FFF2-40B4-BE49-F238E27FC236}">
                <a16:creationId xmlns:a16="http://schemas.microsoft.com/office/drawing/2014/main" id="{448FF7D8-F83C-D2F4-E9DB-F9BD7A4C24AF}"/>
              </a:ext>
            </a:extLst>
          </p:cNvPr>
          <p:cNvSpPr txBox="1"/>
          <p:nvPr/>
        </p:nvSpPr>
        <p:spPr>
          <a:xfrm>
            <a:off x="0" y="5847199"/>
            <a:ext cx="12192000" cy="646331"/>
          </a:xfrm>
          <a:prstGeom prst="rect">
            <a:avLst/>
          </a:prstGeom>
          <a:noFill/>
        </p:spPr>
        <p:txBody>
          <a:bodyPr wrap="square">
            <a:spAutoFit/>
          </a:bodyPr>
          <a:lstStyle/>
          <a:p>
            <a:pPr marL="285750" indent="-285750">
              <a:buFont typeface="Arial" panose="020B0604020202020204" pitchFamily="34" charset="0"/>
              <a:buChar char="•"/>
            </a:pPr>
            <a:r>
              <a:rPr lang="en-US" dirty="0"/>
              <a:t>Targeted marketing: high-engagement users receive exclusives, medium users get interactive ads, low users get re-engagement strategies.</a:t>
            </a:r>
            <a:endParaRPr lang="en-IN" dirty="0"/>
          </a:p>
        </p:txBody>
      </p:sp>
      <p:graphicFrame>
        <p:nvGraphicFramePr>
          <p:cNvPr id="19" name="Chart 18">
            <a:extLst>
              <a:ext uri="{FF2B5EF4-FFF2-40B4-BE49-F238E27FC236}">
                <a16:creationId xmlns:a16="http://schemas.microsoft.com/office/drawing/2014/main" id="{D6717263-174D-0A7B-67B5-D0432875FBFD}"/>
              </a:ext>
            </a:extLst>
          </p:cNvPr>
          <p:cNvGraphicFramePr/>
          <p:nvPr>
            <p:extLst>
              <p:ext uri="{D42A27DB-BD31-4B8C-83A1-F6EECF244321}">
                <p14:modId xmlns:p14="http://schemas.microsoft.com/office/powerpoint/2010/main" val="2619320979"/>
              </p:ext>
            </p:extLst>
          </p:nvPr>
        </p:nvGraphicFramePr>
        <p:xfrm>
          <a:off x="0" y="927443"/>
          <a:ext cx="12192000" cy="455042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59094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C71E38-1892-E9B7-0179-D16FAC60D6FA}"/>
              </a:ext>
            </a:extLst>
          </p:cNvPr>
          <p:cNvSpPr txBox="1"/>
          <p:nvPr/>
        </p:nvSpPr>
        <p:spPr>
          <a:xfrm>
            <a:off x="0" y="247106"/>
            <a:ext cx="12192000" cy="584775"/>
          </a:xfrm>
          <a:prstGeom prst="rect">
            <a:avLst/>
          </a:prstGeom>
          <a:noFill/>
        </p:spPr>
        <p:txBody>
          <a:bodyPr wrap="square">
            <a:spAutoFit/>
          </a:bodyPr>
          <a:lstStyle/>
          <a:p>
            <a:pPr algn="ctr"/>
            <a:r>
              <a:rPr lang="en" sz="3200" dirty="0"/>
              <a:t>Instagram Engagement Playbook: Strategies for Growth and Retention</a:t>
            </a:r>
            <a:endParaRPr lang="en-IN" sz="3200" dirty="0"/>
          </a:p>
        </p:txBody>
      </p:sp>
      <p:sp>
        <p:nvSpPr>
          <p:cNvPr id="5" name="TextBox 4">
            <a:extLst>
              <a:ext uri="{FF2B5EF4-FFF2-40B4-BE49-F238E27FC236}">
                <a16:creationId xmlns:a16="http://schemas.microsoft.com/office/drawing/2014/main" id="{A1E0950B-DF01-1D78-03A8-8A7744748715}"/>
              </a:ext>
            </a:extLst>
          </p:cNvPr>
          <p:cNvSpPr txBox="1"/>
          <p:nvPr/>
        </p:nvSpPr>
        <p:spPr>
          <a:xfrm>
            <a:off x="0" y="1492917"/>
            <a:ext cx="12192000" cy="4524315"/>
          </a:xfrm>
          <a:prstGeom prst="rect">
            <a:avLst/>
          </a:prstGeom>
          <a:noFill/>
        </p:spPr>
        <p:txBody>
          <a:bodyPr wrap="square">
            <a:spAutoFit/>
          </a:bodyPr>
          <a:lstStyle/>
          <a:p>
            <a:pPr>
              <a:buNone/>
            </a:pPr>
            <a:r>
              <a:rPr lang="en-US" b="1" dirty="0"/>
              <a:t>User Engagement Strategies</a:t>
            </a:r>
            <a:br>
              <a:rPr lang="en-US" b="1" dirty="0"/>
            </a:br>
            <a:endParaRPr lang="en-US" b="1" dirty="0"/>
          </a:p>
          <a:p>
            <a:pPr>
              <a:buFont typeface="Arial" panose="020B0604020202020204" pitchFamily="34" charset="0"/>
              <a:buChar char="•"/>
            </a:pPr>
            <a:r>
              <a:rPr lang="en-US" b="1" dirty="0"/>
              <a:t>Content Personalization</a:t>
            </a:r>
            <a:r>
              <a:rPr lang="en-US" dirty="0"/>
              <a:t>: Tailor posts based on user demographics, interests, and behavior using Instagram Insights.</a:t>
            </a:r>
          </a:p>
          <a:p>
            <a:pPr>
              <a:buFont typeface="Arial" panose="020B0604020202020204" pitchFamily="34" charset="0"/>
              <a:buChar char="•"/>
            </a:pPr>
            <a:r>
              <a:rPr lang="en-US" b="1" dirty="0"/>
              <a:t>Hashtag Targeting &amp; Influencer Collaborations</a:t>
            </a:r>
            <a:r>
              <a:rPr lang="en-US" dirty="0"/>
              <a:t>: Leverage trending, relevant hashtags and partner with aligned influencers.</a:t>
            </a:r>
            <a:br>
              <a:rPr lang="en-US" dirty="0"/>
            </a:br>
            <a:br>
              <a:rPr lang="en-US" dirty="0"/>
            </a:br>
            <a:endParaRPr lang="en-US" dirty="0"/>
          </a:p>
          <a:p>
            <a:pPr>
              <a:buNone/>
            </a:pPr>
            <a:r>
              <a:rPr lang="en-US" b="1" dirty="0"/>
              <a:t>User Retention Strategies</a:t>
            </a:r>
            <a:br>
              <a:rPr lang="en-US" b="1" dirty="0"/>
            </a:br>
            <a:endParaRPr lang="en-US" b="1" dirty="0"/>
          </a:p>
          <a:p>
            <a:pPr>
              <a:buFont typeface="Arial" panose="020B0604020202020204" pitchFamily="34" charset="0"/>
              <a:buChar char="•"/>
            </a:pPr>
            <a:r>
              <a:rPr lang="en-US" b="1" dirty="0"/>
              <a:t>Re-engagement Campaigns</a:t>
            </a:r>
            <a:r>
              <a:rPr lang="en-US" dirty="0"/>
              <a:t>: Target inactive users with personalized Stories, Reels, and notifications.</a:t>
            </a:r>
          </a:p>
          <a:p>
            <a:pPr>
              <a:buFont typeface="Arial" panose="020B0604020202020204" pitchFamily="34" charset="0"/>
              <a:buChar char="•"/>
            </a:pPr>
            <a:r>
              <a:rPr lang="en-US" b="1" dirty="0"/>
              <a:t>User Journey &amp; Loyalty Programs</a:t>
            </a:r>
            <a:r>
              <a:rPr lang="en-US" dirty="0"/>
              <a:t>: Map behaviors to optimize experience and encourage engagement through rewards.</a:t>
            </a:r>
            <a:br>
              <a:rPr lang="en-US" dirty="0"/>
            </a:br>
            <a:br>
              <a:rPr lang="en-US" dirty="0"/>
            </a:br>
            <a:endParaRPr lang="en-US" dirty="0"/>
          </a:p>
          <a:p>
            <a:pPr>
              <a:buNone/>
            </a:pPr>
            <a:r>
              <a:rPr lang="en-US" b="1" dirty="0"/>
              <a:t>Additional Optimization Strategies</a:t>
            </a:r>
            <a:br>
              <a:rPr lang="en-US" b="1" dirty="0"/>
            </a:br>
            <a:endParaRPr lang="en-US" b="1" dirty="0"/>
          </a:p>
          <a:p>
            <a:pPr>
              <a:buFont typeface="Arial" panose="020B0604020202020204" pitchFamily="34" charset="0"/>
              <a:buChar char="•"/>
            </a:pPr>
            <a:r>
              <a:rPr lang="en-US" b="1" dirty="0"/>
              <a:t>A/B Testing</a:t>
            </a:r>
            <a:r>
              <a:rPr lang="en-US" dirty="0"/>
              <a:t>: Test content, hashtags, and targeting to identify the most effective strategies.</a:t>
            </a:r>
          </a:p>
          <a:p>
            <a:pPr>
              <a:buFont typeface="Arial" panose="020B0604020202020204" pitchFamily="34" charset="0"/>
              <a:buChar char="•"/>
            </a:pPr>
            <a:r>
              <a:rPr lang="en-US" b="1" dirty="0"/>
              <a:t>Sentiment &amp; Competitor Analysis</a:t>
            </a:r>
            <a:r>
              <a:rPr lang="en-US" dirty="0"/>
              <a:t>: Use feedback to refine approaches and learn from competitors to improve engagement.</a:t>
            </a:r>
          </a:p>
        </p:txBody>
      </p:sp>
    </p:spTree>
    <p:extLst>
      <p:ext uri="{BB962C8B-B14F-4D97-AF65-F5344CB8AC3E}">
        <p14:creationId xmlns:p14="http://schemas.microsoft.com/office/powerpoint/2010/main" val="995265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E0CB7-4F93-021C-21D3-940956B21B48}"/>
              </a:ext>
            </a:extLst>
          </p:cNvPr>
          <p:cNvSpPr>
            <a:spLocks noGrp="1"/>
          </p:cNvSpPr>
          <p:nvPr>
            <p:ph type="ctrTitle"/>
          </p:nvPr>
        </p:nvSpPr>
        <p:spPr>
          <a:xfrm>
            <a:off x="1445342" y="1525486"/>
            <a:ext cx="9144000" cy="2387600"/>
          </a:xfrm>
        </p:spPr>
        <p:txBody>
          <a:bodyPr/>
          <a:lstStyle/>
          <a:p>
            <a:r>
              <a:rPr lang="en-IN" dirty="0"/>
              <a:t>Thank you</a:t>
            </a:r>
          </a:p>
        </p:txBody>
      </p:sp>
    </p:spTree>
    <p:extLst>
      <p:ext uri="{BB962C8B-B14F-4D97-AF65-F5344CB8AC3E}">
        <p14:creationId xmlns:p14="http://schemas.microsoft.com/office/powerpoint/2010/main" val="21442323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211</TotalTime>
  <Words>621</Words>
  <Application>Microsoft Office PowerPoint</Application>
  <PresentationFormat>Widescreen</PresentationFormat>
  <Paragraphs>64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Social Media Analysis</vt:lpstr>
      <vt:lpstr>Problem Statement</vt:lpstr>
      <vt:lpstr>Data Overview</vt:lpstr>
      <vt:lpstr>Database Schema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mohit yadav</dc:creator>
  <cp:lastModifiedBy>mohit yadav</cp:lastModifiedBy>
  <cp:revision>3</cp:revision>
  <dcterms:created xsi:type="dcterms:W3CDTF">2025-10-01T17:25:10Z</dcterms:created>
  <dcterms:modified xsi:type="dcterms:W3CDTF">2025-10-01T21:10:37Z</dcterms:modified>
</cp:coreProperties>
</file>